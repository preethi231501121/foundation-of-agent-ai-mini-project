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68" r:id="rId4"/>
    <p:sldId id="264" r:id="rId5"/>
    <p:sldId id="267" r:id="rId6"/>
    <p:sldId id="269" r:id="rId7"/>
    <p:sldId id="271" r:id="rId8"/>
    <p:sldId id="270" r:id="rId9"/>
    <p:sldId id="272" r:id="rId10"/>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42" d="100"/>
          <a:sy n="42" d="100"/>
        </p:scale>
        <p:origin x="-160" y="6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25D32178-F70E-4EBF-B0E6-30443AA8F157}" type="datetimeFigureOut">
              <a:rPr lang="en-IN" smtClean="0"/>
              <a:t>06-10-2026</a:t>
            </a:fld>
            <a:endParaRPr lang="en-IN"/>
          </a:p>
        </p:txBody>
      </p:sp>
      <p:sp>
        <p:nvSpPr>
          <p:cNvPr id="4" name="Slide Image Placeholder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BE28876E-9CB8-4CD9-9576-A9FA1C8F3667}" type="slidenum">
              <a:rPr lang="en-IN" smtClean="0"/>
              <a:t>‹#›</a:t>
            </a:fld>
            <a:endParaRPr lang="en-IN"/>
          </a:p>
        </p:txBody>
      </p:sp>
    </p:spTree>
    <p:extLst>
      <p:ext uri="{BB962C8B-B14F-4D97-AF65-F5344CB8AC3E}">
        <p14:creationId xmlns:p14="http://schemas.microsoft.com/office/powerpoint/2010/main" val="1396020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3600" b="1" i="0">
                <a:solidFill>
                  <a:srgbClr val="5D5661"/>
                </a:solidFill>
                <a:latin typeface="Times New Roman"/>
                <a:cs typeface="Times New Roman"/>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tx1"/>
                </a:solidFill>
                <a:latin typeface="Arial"/>
                <a:cs typeface="Arial"/>
              </a:defRPr>
            </a:lvl1pPr>
          </a:lstStyle>
          <a:p>
            <a:pPr marL="101600">
              <a:lnSpc>
                <a:spcPct val="100000"/>
              </a:lnSpc>
              <a:spcBef>
                <a:spcPts val="120"/>
              </a:spcBef>
            </a:pPr>
            <a:r>
              <a:rPr dirty="0"/>
              <a:t>Department</a:t>
            </a:r>
            <a:r>
              <a:rPr spc="60" dirty="0"/>
              <a:t> </a:t>
            </a:r>
            <a:r>
              <a:rPr dirty="0"/>
              <a:t>of</a:t>
            </a:r>
            <a:r>
              <a:rPr spc="65" dirty="0"/>
              <a:t> </a:t>
            </a:r>
            <a:r>
              <a:rPr dirty="0"/>
              <a:t>AI</a:t>
            </a:r>
            <a:r>
              <a:rPr spc="60" dirty="0"/>
              <a:t> </a:t>
            </a:r>
            <a:r>
              <a:rPr dirty="0"/>
              <a:t>&amp;</a:t>
            </a:r>
            <a:r>
              <a:rPr spc="65" dirty="0"/>
              <a:t> </a:t>
            </a:r>
            <a:r>
              <a:rPr spc="-25" dirty="0"/>
              <a:t>ML</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5D566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tx1"/>
                </a:solidFill>
                <a:latin typeface="Arial"/>
                <a:cs typeface="Arial"/>
              </a:defRPr>
            </a:lvl1pPr>
          </a:lstStyle>
          <a:p>
            <a:pPr marL="101600">
              <a:lnSpc>
                <a:spcPct val="100000"/>
              </a:lnSpc>
              <a:spcBef>
                <a:spcPts val="120"/>
              </a:spcBef>
            </a:pPr>
            <a:r>
              <a:rPr dirty="0"/>
              <a:t>Department</a:t>
            </a:r>
            <a:r>
              <a:rPr spc="60" dirty="0"/>
              <a:t> </a:t>
            </a:r>
            <a:r>
              <a:rPr dirty="0"/>
              <a:t>of</a:t>
            </a:r>
            <a:r>
              <a:rPr spc="65" dirty="0"/>
              <a:t> </a:t>
            </a:r>
            <a:r>
              <a:rPr dirty="0"/>
              <a:t>AI</a:t>
            </a:r>
            <a:r>
              <a:rPr spc="60" dirty="0"/>
              <a:t> </a:t>
            </a:r>
            <a:r>
              <a:rPr dirty="0"/>
              <a:t>&amp;</a:t>
            </a:r>
            <a:r>
              <a:rPr spc="65" dirty="0"/>
              <a:t> </a:t>
            </a:r>
            <a:r>
              <a:rPr spc="-25" dirty="0"/>
              <a:t>ML</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5D5661"/>
                </a:solidFill>
                <a:latin typeface="Times New Roman"/>
                <a:cs typeface="Times New Roman"/>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800" b="0" i="0">
                <a:solidFill>
                  <a:schemeClr val="tx1"/>
                </a:solidFill>
                <a:latin typeface="Arial"/>
                <a:cs typeface="Arial"/>
              </a:defRPr>
            </a:lvl1pPr>
          </a:lstStyle>
          <a:p>
            <a:pPr marL="101600">
              <a:lnSpc>
                <a:spcPct val="100000"/>
              </a:lnSpc>
              <a:spcBef>
                <a:spcPts val="120"/>
              </a:spcBef>
            </a:pPr>
            <a:r>
              <a:rPr dirty="0"/>
              <a:t>Department</a:t>
            </a:r>
            <a:r>
              <a:rPr spc="60" dirty="0"/>
              <a:t> </a:t>
            </a:r>
            <a:r>
              <a:rPr dirty="0"/>
              <a:t>of</a:t>
            </a:r>
            <a:r>
              <a:rPr spc="65" dirty="0"/>
              <a:t> </a:t>
            </a:r>
            <a:r>
              <a:rPr dirty="0"/>
              <a:t>AI</a:t>
            </a:r>
            <a:r>
              <a:rPr spc="60" dirty="0"/>
              <a:t> </a:t>
            </a:r>
            <a:r>
              <a:rPr dirty="0"/>
              <a:t>&amp;</a:t>
            </a:r>
            <a:r>
              <a:rPr spc="65" dirty="0"/>
              <a:t> </a:t>
            </a:r>
            <a:r>
              <a:rPr spc="-25" dirty="0"/>
              <a:t>ML</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5D566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800" b="0" i="0">
                <a:solidFill>
                  <a:schemeClr val="tx1"/>
                </a:solidFill>
                <a:latin typeface="Arial"/>
                <a:cs typeface="Arial"/>
              </a:defRPr>
            </a:lvl1pPr>
          </a:lstStyle>
          <a:p>
            <a:pPr marL="101600">
              <a:lnSpc>
                <a:spcPct val="100000"/>
              </a:lnSpc>
              <a:spcBef>
                <a:spcPts val="120"/>
              </a:spcBef>
            </a:pPr>
            <a:r>
              <a:rPr dirty="0"/>
              <a:t>Department</a:t>
            </a:r>
            <a:r>
              <a:rPr spc="60" dirty="0"/>
              <a:t> </a:t>
            </a:r>
            <a:r>
              <a:rPr dirty="0"/>
              <a:t>of</a:t>
            </a:r>
            <a:r>
              <a:rPr spc="65" dirty="0"/>
              <a:t> </a:t>
            </a:r>
            <a:r>
              <a:rPr dirty="0"/>
              <a:t>AI</a:t>
            </a:r>
            <a:r>
              <a:rPr spc="60" dirty="0"/>
              <a:t> </a:t>
            </a:r>
            <a:r>
              <a:rPr dirty="0"/>
              <a:t>&amp;</a:t>
            </a:r>
            <a:r>
              <a:rPr spc="65" dirty="0"/>
              <a:t> </a:t>
            </a:r>
            <a:r>
              <a:rPr spc="-25" dirty="0"/>
              <a:t>ML</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800" b="0" i="0">
                <a:solidFill>
                  <a:schemeClr val="tx1"/>
                </a:solidFill>
                <a:latin typeface="Arial"/>
                <a:cs typeface="Arial"/>
              </a:defRPr>
            </a:lvl1pPr>
          </a:lstStyle>
          <a:p>
            <a:pPr marL="101600">
              <a:lnSpc>
                <a:spcPct val="100000"/>
              </a:lnSpc>
              <a:spcBef>
                <a:spcPts val="120"/>
              </a:spcBef>
            </a:pPr>
            <a:r>
              <a:rPr dirty="0"/>
              <a:t>Department</a:t>
            </a:r>
            <a:r>
              <a:rPr spc="60" dirty="0"/>
              <a:t> </a:t>
            </a:r>
            <a:r>
              <a:rPr dirty="0"/>
              <a:t>of</a:t>
            </a:r>
            <a:r>
              <a:rPr spc="65" dirty="0"/>
              <a:t> </a:t>
            </a:r>
            <a:r>
              <a:rPr dirty="0"/>
              <a:t>AI</a:t>
            </a:r>
            <a:r>
              <a:rPr spc="60" dirty="0"/>
              <a:t> </a:t>
            </a:r>
            <a:r>
              <a:rPr dirty="0"/>
              <a:t>&amp;</a:t>
            </a:r>
            <a:r>
              <a:rPr spc="65" dirty="0"/>
              <a:t> </a:t>
            </a:r>
            <a:r>
              <a:rPr spc="-25" dirty="0"/>
              <a:t>ML</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33985"/>
          </a:xfrm>
          <a:custGeom>
            <a:avLst/>
            <a:gdLst/>
            <a:ahLst/>
            <a:cxnLst/>
            <a:rect l="l" t="t" r="r" b="b"/>
            <a:pathLst>
              <a:path w="18288000" h="133985">
                <a:moveTo>
                  <a:pt x="18250375" y="133454"/>
                </a:moveTo>
                <a:lnTo>
                  <a:pt x="51434" y="133454"/>
                </a:lnTo>
                <a:lnTo>
                  <a:pt x="31423" y="129304"/>
                </a:lnTo>
                <a:lnTo>
                  <a:pt x="15073" y="118276"/>
                </a:lnTo>
                <a:lnTo>
                  <a:pt x="4045" y="101926"/>
                </a:lnTo>
                <a:lnTo>
                  <a:pt x="0" y="81915"/>
                </a:lnTo>
                <a:lnTo>
                  <a:pt x="0" y="51435"/>
                </a:lnTo>
                <a:lnTo>
                  <a:pt x="4045" y="31423"/>
                </a:lnTo>
                <a:lnTo>
                  <a:pt x="15073" y="15073"/>
                </a:lnTo>
                <a:lnTo>
                  <a:pt x="31423" y="4045"/>
                </a:lnTo>
                <a:lnTo>
                  <a:pt x="51434" y="0"/>
                </a:lnTo>
                <a:lnTo>
                  <a:pt x="18250375" y="0"/>
                </a:lnTo>
                <a:lnTo>
                  <a:pt x="18270387" y="4045"/>
                </a:lnTo>
                <a:lnTo>
                  <a:pt x="18286736" y="15073"/>
                </a:lnTo>
                <a:lnTo>
                  <a:pt x="18287999" y="16946"/>
                </a:lnTo>
                <a:lnTo>
                  <a:pt x="18287999" y="116404"/>
                </a:lnTo>
                <a:lnTo>
                  <a:pt x="18286736" y="118276"/>
                </a:lnTo>
                <a:lnTo>
                  <a:pt x="18270387" y="129304"/>
                </a:lnTo>
                <a:lnTo>
                  <a:pt x="18250375" y="133454"/>
                </a:lnTo>
                <a:close/>
              </a:path>
            </a:pathLst>
          </a:custGeom>
          <a:solidFill>
            <a:srgbClr val="3A1F5C"/>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266900" y="495690"/>
            <a:ext cx="2782867" cy="1029500"/>
          </a:xfrm>
          <a:prstGeom prst="rect">
            <a:avLst/>
          </a:prstGeom>
        </p:spPr>
      </p:pic>
      <p:sp>
        <p:nvSpPr>
          <p:cNvPr id="18" name="bg object 18"/>
          <p:cNvSpPr/>
          <p:nvPr/>
        </p:nvSpPr>
        <p:spPr>
          <a:xfrm>
            <a:off x="1181995" y="1849297"/>
            <a:ext cx="15937865" cy="57150"/>
          </a:xfrm>
          <a:custGeom>
            <a:avLst/>
            <a:gdLst/>
            <a:ahLst/>
            <a:cxnLst/>
            <a:rect l="l" t="t" r="r" b="b"/>
            <a:pathLst>
              <a:path w="15937865" h="57150">
                <a:moveTo>
                  <a:pt x="15909227" y="57150"/>
                </a:moveTo>
                <a:lnTo>
                  <a:pt x="28575" y="57150"/>
                </a:lnTo>
                <a:lnTo>
                  <a:pt x="17439" y="54908"/>
                </a:lnTo>
                <a:lnTo>
                  <a:pt x="8358" y="48791"/>
                </a:lnTo>
                <a:lnTo>
                  <a:pt x="2241" y="39710"/>
                </a:lnTo>
                <a:lnTo>
                  <a:pt x="0" y="28575"/>
                </a:lnTo>
                <a:lnTo>
                  <a:pt x="2241" y="17439"/>
                </a:lnTo>
                <a:lnTo>
                  <a:pt x="8358" y="8358"/>
                </a:lnTo>
                <a:lnTo>
                  <a:pt x="17439" y="2241"/>
                </a:lnTo>
                <a:lnTo>
                  <a:pt x="28575" y="0"/>
                </a:lnTo>
                <a:lnTo>
                  <a:pt x="15909227" y="0"/>
                </a:lnTo>
                <a:lnTo>
                  <a:pt x="15920362" y="2241"/>
                </a:lnTo>
                <a:lnTo>
                  <a:pt x="15929444" y="8358"/>
                </a:lnTo>
                <a:lnTo>
                  <a:pt x="15935561" y="17439"/>
                </a:lnTo>
                <a:lnTo>
                  <a:pt x="15937802" y="28575"/>
                </a:lnTo>
                <a:lnTo>
                  <a:pt x="15935561" y="39710"/>
                </a:lnTo>
                <a:lnTo>
                  <a:pt x="15929444" y="48791"/>
                </a:lnTo>
                <a:lnTo>
                  <a:pt x="15920362" y="54908"/>
                </a:lnTo>
                <a:lnTo>
                  <a:pt x="15909227" y="57150"/>
                </a:lnTo>
                <a:close/>
              </a:path>
            </a:pathLst>
          </a:custGeom>
          <a:solidFill>
            <a:srgbClr val="6E4A8A"/>
          </a:solidFill>
        </p:spPr>
        <p:txBody>
          <a:bodyPr wrap="square" lIns="0" tIns="0" rIns="0" bIns="0" rtlCol="0"/>
          <a:lstStyle/>
          <a:p>
            <a:endParaRPr/>
          </a:p>
        </p:txBody>
      </p:sp>
      <p:sp>
        <p:nvSpPr>
          <p:cNvPr id="2" name="Holder 2"/>
          <p:cNvSpPr>
            <a:spLocks noGrp="1"/>
          </p:cNvSpPr>
          <p:nvPr>
            <p:ph type="title"/>
          </p:nvPr>
        </p:nvSpPr>
        <p:spPr>
          <a:xfrm>
            <a:off x="10336748" y="787771"/>
            <a:ext cx="7558860" cy="574675"/>
          </a:xfrm>
          <a:prstGeom prst="rect">
            <a:avLst/>
          </a:prstGeom>
        </p:spPr>
        <p:txBody>
          <a:bodyPr wrap="square" lIns="0" tIns="0" rIns="0" bIns="0">
            <a:spAutoFit/>
          </a:bodyPr>
          <a:lstStyle>
            <a:lvl1pPr>
              <a:defRPr sz="3600" b="1" i="0">
                <a:solidFill>
                  <a:srgbClr val="5D5661"/>
                </a:solidFill>
                <a:latin typeface="Times New Roman"/>
                <a:cs typeface="Times New Roman"/>
              </a:defRPr>
            </a:lvl1pPr>
          </a:lstStyle>
          <a:p>
            <a:endParaRPr/>
          </a:p>
        </p:txBody>
      </p:sp>
      <p:sp>
        <p:nvSpPr>
          <p:cNvPr id="3" name="Holder 3"/>
          <p:cNvSpPr>
            <a:spLocks noGrp="1"/>
          </p:cNvSpPr>
          <p:nvPr>
            <p:ph type="body" idx="1"/>
          </p:nvPr>
        </p:nvSpPr>
        <p:spPr>
          <a:xfrm>
            <a:off x="914400" y="2366010"/>
            <a:ext cx="1645920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7823183" y="9717124"/>
            <a:ext cx="2492165" cy="434965"/>
          </a:xfrm>
          <a:prstGeom prst="rect">
            <a:avLst/>
          </a:prstGeom>
        </p:spPr>
        <p:txBody>
          <a:bodyPr wrap="square" lIns="0" tIns="0" rIns="0" bIns="0">
            <a:spAutoFit/>
          </a:bodyPr>
          <a:lstStyle>
            <a:lvl1pPr>
              <a:defRPr sz="1800" b="0" i="0">
                <a:solidFill>
                  <a:schemeClr val="tx1"/>
                </a:solidFill>
                <a:latin typeface="Arial"/>
                <a:cs typeface="Arial"/>
              </a:defRPr>
            </a:lvl1pPr>
          </a:lstStyle>
          <a:p>
            <a:pPr marL="101600">
              <a:lnSpc>
                <a:spcPct val="100000"/>
              </a:lnSpc>
              <a:spcBef>
                <a:spcPts val="120"/>
              </a:spcBef>
            </a:pPr>
            <a:r>
              <a:rPr dirty="0"/>
              <a:t>Department</a:t>
            </a:r>
            <a:r>
              <a:rPr spc="60" dirty="0"/>
              <a:t> </a:t>
            </a:r>
            <a:r>
              <a:rPr dirty="0"/>
              <a:t>of</a:t>
            </a:r>
            <a:r>
              <a:rPr spc="65" dirty="0"/>
              <a:t> </a:t>
            </a:r>
            <a:r>
              <a:rPr dirty="0"/>
              <a:t>AI</a:t>
            </a:r>
            <a:r>
              <a:rPr spc="60" dirty="0"/>
              <a:t> </a:t>
            </a:r>
            <a:r>
              <a:rPr dirty="0"/>
              <a:t>&amp;</a:t>
            </a:r>
            <a:r>
              <a:rPr spc="65" dirty="0"/>
              <a:t> </a:t>
            </a:r>
            <a:r>
              <a:rPr spc="-25" dirty="0"/>
              <a:t>ML</a:t>
            </a: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84038" y="2468714"/>
            <a:ext cx="16135350" cy="559435"/>
          </a:xfrm>
          <a:prstGeom prst="rect">
            <a:avLst/>
          </a:prstGeom>
        </p:spPr>
        <p:txBody>
          <a:bodyPr vert="horz" wrap="square" lIns="0" tIns="12700" rIns="0" bIns="0" rtlCol="0">
            <a:spAutoFit/>
          </a:bodyPr>
          <a:lstStyle/>
          <a:p>
            <a:pPr marL="12700">
              <a:lnSpc>
                <a:spcPct val="100000"/>
              </a:lnSpc>
              <a:spcBef>
                <a:spcPts val="100"/>
              </a:spcBef>
            </a:pPr>
            <a:r>
              <a:rPr sz="3500" b="1" dirty="0">
                <a:solidFill>
                  <a:srgbClr val="5D5661"/>
                </a:solidFill>
                <a:latin typeface="Times New Roman"/>
                <a:cs typeface="Times New Roman"/>
              </a:rPr>
              <a:t>DEPARTMENT</a:t>
            </a:r>
            <a:r>
              <a:rPr sz="3500" b="1" spc="-80" dirty="0">
                <a:solidFill>
                  <a:srgbClr val="5D5661"/>
                </a:solidFill>
                <a:latin typeface="Times New Roman"/>
                <a:cs typeface="Times New Roman"/>
              </a:rPr>
              <a:t> </a:t>
            </a:r>
            <a:r>
              <a:rPr sz="3500" b="1" dirty="0">
                <a:solidFill>
                  <a:srgbClr val="5D5661"/>
                </a:solidFill>
                <a:latin typeface="Times New Roman"/>
                <a:cs typeface="Times New Roman"/>
              </a:rPr>
              <a:t>OF</a:t>
            </a:r>
            <a:r>
              <a:rPr sz="3500" b="1" spc="-75" dirty="0">
                <a:solidFill>
                  <a:srgbClr val="5D5661"/>
                </a:solidFill>
                <a:latin typeface="Times New Roman"/>
                <a:cs typeface="Times New Roman"/>
              </a:rPr>
              <a:t> </a:t>
            </a:r>
            <a:r>
              <a:rPr sz="3500" b="1" dirty="0">
                <a:solidFill>
                  <a:srgbClr val="5D5661"/>
                </a:solidFill>
                <a:latin typeface="Times New Roman"/>
                <a:cs typeface="Times New Roman"/>
              </a:rPr>
              <a:t>ARTIFICIAL</a:t>
            </a:r>
            <a:r>
              <a:rPr sz="3500" b="1" spc="-75" dirty="0">
                <a:solidFill>
                  <a:srgbClr val="5D5661"/>
                </a:solidFill>
                <a:latin typeface="Times New Roman"/>
                <a:cs typeface="Times New Roman"/>
              </a:rPr>
              <a:t> </a:t>
            </a:r>
            <a:r>
              <a:rPr sz="3500" b="1" spc="-10" dirty="0">
                <a:solidFill>
                  <a:srgbClr val="5D5661"/>
                </a:solidFill>
                <a:latin typeface="Times New Roman"/>
                <a:cs typeface="Times New Roman"/>
              </a:rPr>
              <a:t>INTELLIGENCE</a:t>
            </a:r>
            <a:r>
              <a:rPr sz="3500" b="1" spc="-75" dirty="0">
                <a:solidFill>
                  <a:srgbClr val="5D5661"/>
                </a:solidFill>
                <a:latin typeface="Times New Roman"/>
                <a:cs typeface="Times New Roman"/>
              </a:rPr>
              <a:t> </a:t>
            </a:r>
            <a:r>
              <a:rPr sz="3500" b="1" dirty="0">
                <a:solidFill>
                  <a:srgbClr val="5D5661"/>
                </a:solidFill>
                <a:latin typeface="Times New Roman"/>
                <a:cs typeface="Times New Roman"/>
              </a:rPr>
              <a:t>AND</a:t>
            </a:r>
            <a:r>
              <a:rPr sz="3500" b="1" spc="-75" dirty="0">
                <a:solidFill>
                  <a:srgbClr val="5D5661"/>
                </a:solidFill>
                <a:latin typeface="Times New Roman"/>
                <a:cs typeface="Times New Roman"/>
              </a:rPr>
              <a:t> </a:t>
            </a:r>
            <a:r>
              <a:rPr sz="3500" b="1" dirty="0">
                <a:solidFill>
                  <a:srgbClr val="5D5661"/>
                </a:solidFill>
                <a:latin typeface="Times New Roman"/>
                <a:cs typeface="Times New Roman"/>
              </a:rPr>
              <a:t>MACHINE</a:t>
            </a:r>
            <a:r>
              <a:rPr sz="3500" b="1" spc="-80" dirty="0">
                <a:solidFill>
                  <a:srgbClr val="5D5661"/>
                </a:solidFill>
                <a:latin typeface="Times New Roman"/>
                <a:cs typeface="Times New Roman"/>
              </a:rPr>
              <a:t> </a:t>
            </a:r>
            <a:r>
              <a:rPr sz="3500" b="1" spc="-10" dirty="0">
                <a:solidFill>
                  <a:srgbClr val="5D5661"/>
                </a:solidFill>
                <a:latin typeface="Times New Roman"/>
                <a:cs typeface="Times New Roman"/>
              </a:rPr>
              <a:t>LEARNING</a:t>
            </a:r>
            <a:endParaRPr sz="3500">
              <a:latin typeface="Times New Roman"/>
              <a:cs typeface="Times New Roman"/>
            </a:endParaRPr>
          </a:p>
        </p:txBody>
      </p:sp>
      <p:sp>
        <p:nvSpPr>
          <p:cNvPr id="3" name="object 3"/>
          <p:cNvSpPr/>
          <p:nvPr/>
        </p:nvSpPr>
        <p:spPr>
          <a:xfrm>
            <a:off x="1524000" y="4282148"/>
            <a:ext cx="16012160" cy="3050540"/>
          </a:xfrm>
          <a:custGeom>
            <a:avLst/>
            <a:gdLst/>
            <a:ahLst/>
            <a:cxnLst/>
            <a:rect l="l" t="t" r="r" b="b"/>
            <a:pathLst>
              <a:path w="16012160" h="3050540">
                <a:moveTo>
                  <a:pt x="15962661" y="3050381"/>
                </a:moveTo>
                <a:lnTo>
                  <a:pt x="51435" y="3050381"/>
                </a:lnTo>
                <a:lnTo>
                  <a:pt x="31423" y="3046335"/>
                </a:lnTo>
                <a:lnTo>
                  <a:pt x="15073" y="3035307"/>
                </a:lnTo>
                <a:lnTo>
                  <a:pt x="4045" y="3018957"/>
                </a:lnTo>
                <a:lnTo>
                  <a:pt x="0" y="2998946"/>
                </a:lnTo>
                <a:lnTo>
                  <a:pt x="0" y="51435"/>
                </a:lnTo>
                <a:lnTo>
                  <a:pt x="15073" y="15073"/>
                </a:lnTo>
                <a:lnTo>
                  <a:pt x="51435" y="0"/>
                </a:lnTo>
                <a:lnTo>
                  <a:pt x="15962661" y="0"/>
                </a:lnTo>
                <a:lnTo>
                  <a:pt x="15982671" y="4045"/>
                </a:lnTo>
                <a:lnTo>
                  <a:pt x="15999021" y="15073"/>
                </a:lnTo>
                <a:lnTo>
                  <a:pt x="16010049" y="31423"/>
                </a:lnTo>
                <a:lnTo>
                  <a:pt x="16012125" y="41692"/>
                </a:lnTo>
                <a:lnTo>
                  <a:pt x="16012125" y="3008688"/>
                </a:lnTo>
                <a:lnTo>
                  <a:pt x="16010049" y="3018957"/>
                </a:lnTo>
                <a:lnTo>
                  <a:pt x="15999021" y="3035307"/>
                </a:lnTo>
                <a:lnTo>
                  <a:pt x="15982671" y="3046335"/>
                </a:lnTo>
                <a:lnTo>
                  <a:pt x="15962661" y="3050381"/>
                </a:lnTo>
                <a:close/>
              </a:path>
            </a:pathLst>
          </a:custGeom>
          <a:solidFill>
            <a:srgbClr val="3A1F5C"/>
          </a:solidFill>
        </p:spPr>
        <p:txBody>
          <a:bodyPr wrap="square" lIns="0" tIns="0" rIns="0" bIns="0" rtlCol="0"/>
          <a:lstStyle/>
          <a:p>
            <a:endParaRPr/>
          </a:p>
        </p:txBody>
      </p:sp>
      <p:sp>
        <p:nvSpPr>
          <p:cNvPr id="4" name="object 4" descr="$PPTXTitle"/>
          <p:cNvSpPr txBox="1">
            <a:spLocks noGrp="1"/>
          </p:cNvSpPr>
          <p:nvPr>
            <p:ph type="title"/>
          </p:nvPr>
        </p:nvSpPr>
        <p:spPr>
          <a:xfrm>
            <a:off x="5706853" y="4159753"/>
            <a:ext cx="5541155" cy="1305486"/>
          </a:xfrm>
          <a:prstGeom prst="rect">
            <a:avLst/>
          </a:prstGeom>
        </p:spPr>
        <p:txBody>
          <a:bodyPr vert="horz" wrap="square" lIns="0" tIns="12700" rIns="0" bIns="0" rtlCol="0">
            <a:spAutoFit/>
          </a:bodyPr>
          <a:lstStyle/>
          <a:p>
            <a:br>
              <a:rPr lang="en-IN" b="0" dirty="0">
                <a:solidFill>
                  <a:schemeClr val="bg1"/>
                </a:solidFill>
              </a:rPr>
            </a:br>
            <a:r>
              <a:rPr lang="en-IN" b="0" dirty="0">
                <a:solidFill>
                  <a:schemeClr val="bg1"/>
                </a:solidFill>
              </a:rPr>
              <a:t> </a:t>
            </a:r>
            <a:r>
              <a:rPr lang="en-IN" sz="4800" b="0" dirty="0" err="1">
                <a:solidFill>
                  <a:schemeClr val="bg1"/>
                </a:solidFill>
              </a:rPr>
              <a:t>AcademicPilot</a:t>
            </a:r>
            <a:r>
              <a:rPr lang="en-IN" sz="4800" b="0" dirty="0">
                <a:solidFill>
                  <a:schemeClr val="bg1"/>
                </a:solidFill>
              </a:rPr>
              <a:t> AI </a:t>
            </a:r>
            <a:r>
              <a:rPr lang="en-IN" b="0" dirty="0">
                <a:solidFill>
                  <a:schemeClr val="bg1"/>
                </a:solidFill>
              </a:rPr>
              <a:t>| </a:t>
            </a:r>
            <a:endParaRPr sz="5700" dirty="0">
              <a:solidFill>
                <a:schemeClr val="bg1"/>
              </a:solidFill>
            </a:endParaRPr>
          </a:p>
        </p:txBody>
      </p:sp>
      <p:sp>
        <p:nvSpPr>
          <p:cNvPr id="5" name="object 5"/>
          <p:cNvSpPr txBox="1"/>
          <p:nvPr/>
        </p:nvSpPr>
        <p:spPr>
          <a:xfrm>
            <a:off x="3169616" y="5725674"/>
            <a:ext cx="11966575" cy="1120820"/>
          </a:xfrm>
          <a:prstGeom prst="rect">
            <a:avLst/>
          </a:prstGeom>
        </p:spPr>
        <p:txBody>
          <a:bodyPr vert="horz" wrap="square" lIns="0" tIns="12700" rIns="0" bIns="0" rtlCol="0">
            <a:spAutoFit/>
          </a:bodyPr>
          <a:lstStyle/>
          <a:p>
            <a:pPr marL="12700">
              <a:lnSpc>
                <a:spcPct val="100000"/>
              </a:lnSpc>
              <a:spcBef>
                <a:spcPts val="100"/>
              </a:spcBef>
            </a:pPr>
            <a:r>
              <a:rPr lang="en-IN" sz="3600" dirty="0">
                <a:solidFill>
                  <a:schemeClr val="bg1"/>
                </a:solidFill>
              </a:rPr>
              <a:t>AI-Powered Adaptive Academic Guidance and Personalized Learning Platform</a:t>
            </a:r>
            <a:endParaRPr sz="3600" dirty="0">
              <a:solidFill>
                <a:schemeClr val="bg1"/>
              </a:solidFill>
              <a:latin typeface="Times New Roman"/>
              <a:cs typeface="Times New Roman"/>
            </a:endParaRPr>
          </a:p>
        </p:txBody>
      </p:sp>
      <p:sp>
        <p:nvSpPr>
          <p:cNvPr id="6" name="object 6"/>
          <p:cNvSpPr/>
          <p:nvPr/>
        </p:nvSpPr>
        <p:spPr>
          <a:xfrm>
            <a:off x="7053833" y="7244657"/>
            <a:ext cx="4194175" cy="76200"/>
          </a:xfrm>
          <a:custGeom>
            <a:avLst/>
            <a:gdLst/>
            <a:ahLst/>
            <a:cxnLst/>
            <a:rect l="l" t="t" r="r" b="b"/>
            <a:pathLst>
              <a:path w="4194175" h="76200">
                <a:moveTo>
                  <a:pt x="4156043" y="76200"/>
                </a:moveTo>
                <a:lnTo>
                  <a:pt x="38100" y="76200"/>
                </a:lnTo>
                <a:lnTo>
                  <a:pt x="23266" y="73207"/>
                </a:lnTo>
                <a:lnTo>
                  <a:pt x="11156" y="65043"/>
                </a:lnTo>
                <a:lnTo>
                  <a:pt x="2992" y="52933"/>
                </a:lnTo>
                <a:lnTo>
                  <a:pt x="0" y="38100"/>
                </a:lnTo>
                <a:lnTo>
                  <a:pt x="2992" y="23266"/>
                </a:lnTo>
                <a:lnTo>
                  <a:pt x="11156" y="11156"/>
                </a:lnTo>
                <a:lnTo>
                  <a:pt x="23266" y="2992"/>
                </a:lnTo>
                <a:lnTo>
                  <a:pt x="38100" y="0"/>
                </a:lnTo>
                <a:lnTo>
                  <a:pt x="4156043" y="0"/>
                </a:lnTo>
                <a:lnTo>
                  <a:pt x="4170877" y="2992"/>
                </a:lnTo>
                <a:lnTo>
                  <a:pt x="4182987" y="11156"/>
                </a:lnTo>
                <a:lnTo>
                  <a:pt x="4191150" y="23266"/>
                </a:lnTo>
                <a:lnTo>
                  <a:pt x="4194143" y="38100"/>
                </a:lnTo>
                <a:lnTo>
                  <a:pt x="4191150" y="52933"/>
                </a:lnTo>
                <a:lnTo>
                  <a:pt x="4182987" y="65043"/>
                </a:lnTo>
                <a:lnTo>
                  <a:pt x="4170877" y="73207"/>
                </a:lnTo>
                <a:lnTo>
                  <a:pt x="4156043" y="76200"/>
                </a:lnTo>
                <a:close/>
              </a:path>
            </a:pathLst>
          </a:custGeom>
          <a:solidFill>
            <a:srgbClr val="8B6FB3"/>
          </a:solidFill>
        </p:spPr>
        <p:txBody>
          <a:bodyPr wrap="square" lIns="0" tIns="0" rIns="0" bIns="0" rtlCol="0"/>
          <a:lstStyle/>
          <a:p>
            <a:endParaRPr/>
          </a:p>
        </p:txBody>
      </p:sp>
      <p:sp>
        <p:nvSpPr>
          <p:cNvPr id="7" name="object 7"/>
          <p:cNvSpPr txBox="1"/>
          <p:nvPr/>
        </p:nvSpPr>
        <p:spPr>
          <a:xfrm>
            <a:off x="2766639" y="7789702"/>
            <a:ext cx="4287194" cy="848822"/>
          </a:xfrm>
          <a:prstGeom prst="rect">
            <a:avLst/>
          </a:prstGeom>
        </p:spPr>
        <p:txBody>
          <a:bodyPr vert="horz" wrap="square" lIns="0" tIns="12700" rIns="0" bIns="0" rtlCol="0">
            <a:spAutoFit/>
          </a:bodyPr>
          <a:lstStyle/>
          <a:p>
            <a:pPr marL="12700" marR="5080" indent="897890">
              <a:lnSpc>
                <a:spcPct val="125000"/>
              </a:lnSpc>
              <a:spcBef>
                <a:spcPts val="100"/>
              </a:spcBef>
            </a:pPr>
            <a:r>
              <a:rPr sz="2250" b="1" dirty="0">
                <a:solidFill>
                  <a:schemeClr val="tx1"/>
                </a:solidFill>
                <a:latin typeface="Arial"/>
                <a:cs typeface="Arial"/>
              </a:rPr>
              <a:t>Presented</a:t>
            </a:r>
            <a:r>
              <a:rPr sz="2250" b="1" spc="-50" dirty="0">
                <a:solidFill>
                  <a:schemeClr val="tx1"/>
                </a:solidFill>
                <a:latin typeface="Arial"/>
                <a:cs typeface="Arial"/>
              </a:rPr>
              <a:t> </a:t>
            </a:r>
            <a:r>
              <a:rPr sz="2250" b="1" spc="-25" dirty="0">
                <a:solidFill>
                  <a:schemeClr val="tx1"/>
                </a:solidFill>
                <a:latin typeface="Arial"/>
                <a:cs typeface="Arial"/>
              </a:rPr>
              <a:t>by</a:t>
            </a:r>
            <a:endParaRPr lang="en-IN" sz="2250" b="1" spc="-25" dirty="0">
              <a:solidFill>
                <a:schemeClr val="tx1"/>
              </a:solidFill>
              <a:latin typeface="Arial"/>
              <a:cs typeface="Arial"/>
            </a:endParaRPr>
          </a:p>
          <a:p>
            <a:pPr marL="12700" marR="5080" indent="897890">
              <a:lnSpc>
                <a:spcPct val="125000"/>
              </a:lnSpc>
              <a:spcBef>
                <a:spcPts val="100"/>
              </a:spcBef>
            </a:pPr>
            <a:r>
              <a:rPr lang="en-IN" sz="2250" spc="-25" dirty="0">
                <a:solidFill>
                  <a:schemeClr val="tx1"/>
                </a:solidFill>
                <a:latin typeface="Arial"/>
                <a:cs typeface="Arial"/>
              </a:rPr>
              <a:t>PREETHI AH (231501121</a:t>
            </a:r>
            <a:r>
              <a:rPr lang="en-IN" sz="2250" b="1" spc="-25" dirty="0">
                <a:solidFill>
                  <a:schemeClr val="tx1"/>
                </a:solidFill>
                <a:latin typeface="Arial"/>
                <a:cs typeface="Arial"/>
              </a:rPr>
              <a:t>)</a:t>
            </a:r>
          </a:p>
        </p:txBody>
      </p:sp>
      <p:sp>
        <p:nvSpPr>
          <p:cNvPr id="9" name="object 9"/>
          <p:cNvSpPr txBox="1">
            <a:spLocks noGrp="1"/>
          </p:cNvSpPr>
          <p:nvPr>
            <p:ph type="ftr" sz="quarter" idx="5"/>
          </p:nvPr>
        </p:nvSpPr>
        <p:spPr>
          <a:prstGeom prst="rect">
            <a:avLst/>
          </a:prstGeom>
        </p:spPr>
        <p:txBody>
          <a:bodyPr vert="horz" wrap="square" lIns="0" tIns="112385" rIns="0" bIns="0" rtlCol="0">
            <a:spAutoFit/>
          </a:bodyPr>
          <a:lstStyle/>
          <a:p>
            <a:pPr marL="101600">
              <a:lnSpc>
                <a:spcPct val="100000"/>
              </a:lnSpc>
              <a:spcBef>
                <a:spcPts val="120"/>
              </a:spcBef>
            </a:pPr>
            <a:r>
              <a:rPr dirty="0"/>
              <a:t>Department</a:t>
            </a:r>
            <a:r>
              <a:rPr spc="60" dirty="0"/>
              <a:t> </a:t>
            </a:r>
            <a:r>
              <a:rPr dirty="0"/>
              <a:t>of</a:t>
            </a:r>
            <a:r>
              <a:rPr spc="65" dirty="0"/>
              <a:t> </a:t>
            </a:r>
            <a:r>
              <a:rPr dirty="0"/>
              <a:t>AI</a:t>
            </a:r>
            <a:r>
              <a:rPr spc="60" dirty="0"/>
              <a:t> </a:t>
            </a:r>
            <a:r>
              <a:rPr dirty="0"/>
              <a:t>&amp;</a:t>
            </a:r>
            <a:r>
              <a:rPr spc="65" dirty="0"/>
              <a:t> </a:t>
            </a:r>
            <a:r>
              <a:rPr spc="-25" dirty="0"/>
              <a:t>ML</a:t>
            </a:r>
          </a:p>
        </p:txBody>
      </p:sp>
      <p:sp>
        <p:nvSpPr>
          <p:cNvPr id="8" name="object 8"/>
          <p:cNvSpPr txBox="1"/>
          <p:nvPr/>
        </p:nvSpPr>
        <p:spPr>
          <a:xfrm>
            <a:off x="11699006" y="7575390"/>
            <a:ext cx="4237355" cy="1739900"/>
          </a:xfrm>
          <a:prstGeom prst="rect">
            <a:avLst/>
          </a:prstGeom>
        </p:spPr>
        <p:txBody>
          <a:bodyPr vert="horz" wrap="square" lIns="0" tIns="98425" rIns="0" bIns="0" rtlCol="0">
            <a:spAutoFit/>
          </a:bodyPr>
          <a:lstStyle/>
          <a:p>
            <a:pPr marL="1244600">
              <a:lnSpc>
                <a:spcPct val="100000"/>
              </a:lnSpc>
              <a:spcBef>
                <a:spcPts val="775"/>
              </a:spcBef>
            </a:pPr>
            <a:r>
              <a:rPr sz="2250" b="1" dirty="0">
                <a:solidFill>
                  <a:schemeClr val="tx1"/>
                </a:solidFill>
                <a:latin typeface="Arial"/>
                <a:cs typeface="Arial"/>
              </a:rPr>
              <a:t>Submitted</a:t>
            </a:r>
            <a:r>
              <a:rPr sz="2250" b="1" spc="-55" dirty="0">
                <a:solidFill>
                  <a:schemeClr val="tx1"/>
                </a:solidFill>
                <a:latin typeface="Arial"/>
                <a:cs typeface="Arial"/>
              </a:rPr>
              <a:t> </a:t>
            </a:r>
            <a:r>
              <a:rPr sz="2250" b="1" spc="-25" dirty="0">
                <a:solidFill>
                  <a:schemeClr val="tx1"/>
                </a:solidFill>
                <a:latin typeface="Arial"/>
                <a:cs typeface="Arial"/>
              </a:rPr>
              <a:t>to</a:t>
            </a:r>
            <a:endParaRPr sz="2250" dirty="0">
              <a:solidFill>
                <a:schemeClr val="tx1"/>
              </a:solidFill>
              <a:latin typeface="Arial"/>
              <a:cs typeface="Arial"/>
            </a:endParaRPr>
          </a:p>
          <a:p>
            <a:pPr marL="12700" marR="5080" indent="985519">
              <a:lnSpc>
                <a:spcPct val="125000"/>
              </a:lnSpc>
            </a:pPr>
            <a:r>
              <a:rPr sz="2250" dirty="0">
                <a:solidFill>
                  <a:schemeClr val="tx1"/>
                </a:solidFill>
                <a:latin typeface="Arial"/>
                <a:cs typeface="Arial"/>
              </a:rPr>
              <a:t>Dr.</a:t>
            </a:r>
            <a:r>
              <a:rPr sz="2250" spc="-15" dirty="0">
                <a:solidFill>
                  <a:schemeClr val="tx1"/>
                </a:solidFill>
                <a:latin typeface="Arial"/>
                <a:cs typeface="Arial"/>
              </a:rPr>
              <a:t> </a:t>
            </a:r>
            <a:r>
              <a:rPr sz="2250" dirty="0">
                <a:solidFill>
                  <a:schemeClr val="tx1"/>
                </a:solidFill>
                <a:latin typeface="Arial"/>
                <a:cs typeface="Arial"/>
              </a:rPr>
              <a:t>M.</a:t>
            </a:r>
            <a:r>
              <a:rPr sz="2250" spc="-10" dirty="0">
                <a:solidFill>
                  <a:schemeClr val="tx1"/>
                </a:solidFill>
                <a:latin typeface="Arial"/>
                <a:cs typeface="Arial"/>
              </a:rPr>
              <a:t> Soundarya </a:t>
            </a:r>
            <a:r>
              <a:rPr sz="2250" dirty="0">
                <a:solidFill>
                  <a:schemeClr val="tx1"/>
                </a:solidFill>
                <a:latin typeface="Arial"/>
                <a:cs typeface="Arial"/>
              </a:rPr>
              <a:t>Professor,</a:t>
            </a:r>
            <a:r>
              <a:rPr sz="2250" spc="-40" dirty="0">
                <a:solidFill>
                  <a:schemeClr val="tx1"/>
                </a:solidFill>
                <a:latin typeface="Arial"/>
                <a:cs typeface="Arial"/>
              </a:rPr>
              <a:t> </a:t>
            </a:r>
            <a:r>
              <a:rPr sz="2250" dirty="0">
                <a:solidFill>
                  <a:schemeClr val="tx1"/>
                </a:solidFill>
                <a:latin typeface="Arial"/>
                <a:cs typeface="Arial"/>
              </a:rPr>
              <a:t>Department</a:t>
            </a:r>
            <a:r>
              <a:rPr sz="2250" spc="-40" dirty="0">
                <a:solidFill>
                  <a:schemeClr val="tx1"/>
                </a:solidFill>
                <a:latin typeface="Arial"/>
                <a:cs typeface="Arial"/>
              </a:rPr>
              <a:t> </a:t>
            </a:r>
            <a:r>
              <a:rPr sz="2250" dirty="0">
                <a:solidFill>
                  <a:schemeClr val="tx1"/>
                </a:solidFill>
                <a:latin typeface="Arial"/>
                <a:cs typeface="Arial"/>
              </a:rPr>
              <a:t>of</a:t>
            </a:r>
            <a:r>
              <a:rPr sz="2250" spc="-40" dirty="0">
                <a:solidFill>
                  <a:schemeClr val="tx1"/>
                </a:solidFill>
                <a:latin typeface="Arial"/>
                <a:cs typeface="Arial"/>
              </a:rPr>
              <a:t> </a:t>
            </a:r>
            <a:r>
              <a:rPr sz="2250" spc="-10" dirty="0">
                <a:solidFill>
                  <a:schemeClr val="tx1"/>
                </a:solidFill>
                <a:latin typeface="Arial"/>
                <a:cs typeface="Arial"/>
              </a:rPr>
              <a:t>AI&amp;ML, </a:t>
            </a:r>
            <a:r>
              <a:rPr sz="2250" dirty="0">
                <a:solidFill>
                  <a:schemeClr val="tx1"/>
                </a:solidFill>
                <a:latin typeface="Arial"/>
                <a:cs typeface="Arial"/>
              </a:rPr>
              <a:t>Rajalakshmi</a:t>
            </a:r>
            <a:r>
              <a:rPr sz="2250" spc="-55" dirty="0">
                <a:solidFill>
                  <a:schemeClr val="tx1"/>
                </a:solidFill>
                <a:latin typeface="Arial"/>
                <a:cs typeface="Arial"/>
              </a:rPr>
              <a:t> </a:t>
            </a:r>
            <a:r>
              <a:rPr sz="2250" dirty="0">
                <a:solidFill>
                  <a:schemeClr val="tx1"/>
                </a:solidFill>
                <a:latin typeface="Arial"/>
                <a:cs typeface="Arial"/>
              </a:rPr>
              <a:t>Engineering</a:t>
            </a:r>
            <a:r>
              <a:rPr sz="2250" spc="-55" dirty="0">
                <a:solidFill>
                  <a:schemeClr val="tx1"/>
                </a:solidFill>
                <a:latin typeface="Arial"/>
                <a:cs typeface="Arial"/>
              </a:rPr>
              <a:t> </a:t>
            </a:r>
            <a:r>
              <a:rPr sz="2250" spc="-10" dirty="0">
                <a:solidFill>
                  <a:schemeClr val="tx1"/>
                </a:solidFill>
                <a:latin typeface="Arial"/>
                <a:cs typeface="Arial"/>
              </a:rPr>
              <a:t>College</a:t>
            </a:r>
            <a:endParaRPr sz="2250" dirty="0">
              <a:solidFill>
                <a:schemeClr val="tx1"/>
              </a:solidFill>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623240" y="2324101"/>
            <a:ext cx="14912160" cy="8384347"/>
          </a:xfrm>
          <a:prstGeom prst="rect">
            <a:avLst/>
          </a:prstGeom>
        </p:spPr>
        <p:txBody>
          <a:bodyPr vert="horz" wrap="square" lIns="0" tIns="12700" rIns="0" bIns="0" rtlCol="0">
            <a:spAutoFit/>
          </a:bodyPr>
          <a:lstStyle/>
          <a:p>
            <a:r>
              <a:rPr lang="en-IN" sz="4400" spc="-10" dirty="0">
                <a:solidFill>
                  <a:schemeClr val="tx1"/>
                </a:solidFill>
              </a:rPr>
              <a:t>INTRODUCTION</a:t>
            </a:r>
            <a:br>
              <a:rPr lang="en-IN" sz="4400" spc="-10" dirty="0"/>
            </a:br>
            <a:r>
              <a:rPr lang="en-IN" sz="4400" spc="-10" dirty="0"/>
              <a:t> </a:t>
            </a:r>
            <a:r>
              <a:rPr lang="en-IN" sz="2400" dirty="0" err="1">
                <a:solidFill>
                  <a:schemeClr val="tx1"/>
                </a:solidFill>
              </a:rPr>
              <a:t>AcademicPilot</a:t>
            </a:r>
            <a:r>
              <a:rPr lang="en-IN" sz="2400" dirty="0">
                <a:solidFill>
                  <a:schemeClr val="tx1"/>
                </a:solidFill>
              </a:rPr>
              <a:t> AI is a web based Agentic AI-powered personalized learning platform designed to provide students with adaptive academic guidance</a:t>
            </a:r>
            <a:br>
              <a:rPr lang="en-IN" sz="2400" dirty="0">
                <a:solidFill>
                  <a:schemeClr val="tx1"/>
                </a:solidFill>
              </a:rPr>
            </a:br>
            <a:br>
              <a:rPr lang="en-IN" sz="2400" dirty="0">
                <a:solidFill>
                  <a:schemeClr val="tx1"/>
                </a:solidFill>
              </a:rPr>
            </a:br>
            <a:r>
              <a:rPr lang="en-IN" sz="2400" dirty="0">
                <a:solidFill>
                  <a:schemeClr val="tx1"/>
                </a:solidFill>
              </a:rPr>
              <a:t>Instead of performing like a Single  Chat Box like generating Questions and responding Where each agents  perform Specialized Task </a:t>
            </a:r>
            <a:br>
              <a:rPr lang="en-IN" sz="2400" dirty="0">
                <a:solidFill>
                  <a:schemeClr val="tx1"/>
                </a:solidFill>
              </a:rPr>
            </a:br>
            <a:br>
              <a:rPr lang="en-IN" sz="2400" dirty="0">
                <a:solidFill>
                  <a:schemeClr val="tx1"/>
                </a:solidFill>
              </a:rPr>
            </a:br>
            <a:r>
              <a:rPr lang="en-IN" sz="2400" dirty="0" err="1">
                <a:solidFill>
                  <a:schemeClr val="tx1"/>
                </a:solidFill>
              </a:rPr>
              <a:t>AcademicPilot</a:t>
            </a:r>
            <a:r>
              <a:rPr lang="en-IN" sz="2400" dirty="0">
                <a:solidFill>
                  <a:schemeClr val="tx1"/>
                </a:solidFill>
              </a:rPr>
              <a:t> AI </a:t>
            </a:r>
            <a:r>
              <a:rPr lang="en-IN" sz="2400" dirty="0" err="1">
                <a:solidFill>
                  <a:schemeClr val="tx1"/>
                </a:solidFill>
              </a:rPr>
              <a:t>analyzes</a:t>
            </a:r>
            <a:r>
              <a:rPr lang="en-IN" sz="2400" dirty="0">
                <a:solidFill>
                  <a:schemeClr val="tx1"/>
                </a:solidFill>
              </a:rPr>
              <a:t> student performance, mastery, assessment results, and weak topics to recommend suitable learning activities. A central Academic Brain coordinates specialized agents such as the Detective, Resource, Strategist, Mentor, Examiner, and Progress Monitor Agents.</a:t>
            </a:r>
            <a:br>
              <a:rPr lang="en-IN" sz="2400" dirty="0">
                <a:solidFill>
                  <a:schemeClr val="tx1"/>
                </a:solidFill>
              </a:rPr>
            </a:br>
            <a:br>
              <a:rPr lang="en-IN" sz="2400" dirty="0">
                <a:solidFill>
                  <a:schemeClr val="tx1"/>
                </a:solidFill>
              </a:rPr>
            </a:br>
            <a:r>
              <a:rPr lang="en-IN" sz="2400" dirty="0">
                <a:solidFill>
                  <a:schemeClr val="tx1"/>
                </a:solidFill>
              </a:rPr>
              <a:t>Teachers can create subjects and topics and upload original PDF learning resources, which students can access through the Resource Agent. Students can learn, practice, take assessments, and track their progress.</a:t>
            </a:r>
            <a:br>
              <a:rPr lang="en-IN" sz="2400" dirty="0">
                <a:solidFill>
                  <a:schemeClr val="tx1"/>
                </a:solidFill>
              </a:rPr>
            </a:br>
            <a:r>
              <a:rPr lang="en-IN" sz="2400" dirty="0">
                <a:solidFill>
                  <a:schemeClr val="tx1"/>
                </a:solidFill>
              </a:rPr>
              <a:t>The system follows a continuous learning cycle:</a:t>
            </a:r>
            <a:br>
              <a:rPr lang="en-IN" sz="2400" dirty="0">
                <a:solidFill>
                  <a:schemeClr val="tx1"/>
                </a:solidFill>
              </a:rPr>
            </a:br>
            <a:br>
              <a:rPr lang="en-IN" sz="2400" dirty="0">
                <a:solidFill>
                  <a:schemeClr val="tx1"/>
                </a:solidFill>
              </a:rPr>
            </a:br>
            <a:r>
              <a:rPr lang="en-IN" sz="2400" dirty="0">
                <a:solidFill>
                  <a:schemeClr val="tx1"/>
                </a:solidFill>
              </a:rPr>
              <a:t>Observe → </a:t>
            </a:r>
            <a:r>
              <a:rPr lang="en-IN" sz="2400" dirty="0" err="1">
                <a:solidFill>
                  <a:schemeClr val="tx1"/>
                </a:solidFill>
              </a:rPr>
              <a:t>Analyze</a:t>
            </a:r>
            <a:r>
              <a:rPr lang="en-IN" sz="2400" dirty="0">
                <a:solidFill>
                  <a:schemeClr val="tx1"/>
                </a:solidFill>
              </a:rPr>
              <a:t> → Plan → Learn → Practice → Evaluate → Update → Re-plan</a:t>
            </a:r>
            <a:br>
              <a:rPr lang="en-IN" sz="2400" dirty="0">
                <a:solidFill>
                  <a:schemeClr val="tx1"/>
                </a:solidFill>
              </a:rPr>
            </a:br>
            <a:r>
              <a:rPr lang="en-IN" sz="2400" dirty="0">
                <a:solidFill>
                  <a:schemeClr val="tx1"/>
                </a:solidFill>
              </a:rPr>
              <a:t>Thus, </a:t>
            </a:r>
            <a:r>
              <a:rPr lang="en-IN" sz="2400" dirty="0" err="1">
                <a:solidFill>
                  <a:schemeClr val="tx1"/>
                </a:solidFill>
              </a:rPr>
              <a:t>AcademicPilot</a:t>
            </a:r>
            <a:r>
              <a:rPr lang="en-IN" sz="2400" dirty="0">
                <a:solidFill>
                  <a:schemeClr val="tx1"/>
                </a:solidFill>
              </a:rPr>
              <a:t> AI provides a personalized learning experience while helping teachers manage resources and monitor student progress.</a:t>
            </a:r>
            <a:br>
              <a:rPr lang="en-IN" sz="2400" dirty="0">
                <a:solidFill>
                  <a:schemeClr val="tx1"/>
                </a:solidFill>
              </a:rPr>
            </a:br>
            <a:br>
              <a:rPr lang="en-IN" sz="2400" spc="-10" dirty="0">
                <a:solidFill>
                  <a:schemeClr val="tx1"/>
                </a:solidFill>
              </a:rPr>
            </a:br>
            <a:br>
              <a:rPr lang="en-IN" sz="2400" spc="-10" dirty="0">
                <a:solidFill>
                  <a:schemeClr val="tx1"/>
                </a:solidFill>
              </a:rPr>
            </a:br>
            <a:endParaRPr sz="2400" spc="-10" dirty="0">
              <a:solidFill>
                <a:schemeClr val="tx1"/>
              </a:solidFill>
            </a:endParaRPr>
          </a:p>
        </p:txBody>
      </p:sp>
      <p:sp>
        <p:nvSpPr>
          <p:cNvPr id="3" name="object 3"/>
          <p:cNvSpPr/>
          <p:nvPr/>
        </p:nvSpPr>
        <p:spPr>
          <a:xfrm>
            <a:off x="0" y="1790700"/>
            <a:ext cx="1371600" cy="8496300"/>
          </a:xfrm>
          <a:custGeom>
            <a:avLst/>
            <a:gdLst/>
            <a:ahLst/>
            <a:cxnLst/>
            <a:rect l="l" t="t" r="r" b="b"/>
            <a:pathLst>
              <a:path w="6863715" h="4385309">
                <a:moveTo>
                  <a:pt x="6863143" y="51435"/>
                </a:moveTo>
                <a:lnTo>
                  <a:pt x="6859092" y="31419"/>
                </a:lnTo>
                <a:lnTo>
                  <a:pt x="6848068" y="15074"/>
                </a:lnTo>
                <a:lnTo>
                  <a:pt x="6831711" y="4038"/>
                </a:lnTo>
                <a:lnTo>
                  <a:pt x="6811708" y="0"/>
                </a:lnTo>
                <a:lnTo>
                  <a:pt x="51435" y="0"/>
                </a:lnTo>
                <a:lnTo>
                  <a:pt x="31419" y="4038"/>
                </a:lnTo>
                <a:lnTo>
                  <a:pt x="15074" y="15074"/>
                </a:lnTo>
                <a:lnTo>
                  <a:pt x="4038" y="31419"/>
                </a:lnTo>
                <a:lnTo>
                  <a:pt x="0" y="51435"/>
                </a:lnTo>
                <a:lnTo>
                  <a:pt x="0" y="4333494"/>
                </a:lnTo>
                <a:lnTo>
                  <a:pt x="4038" y="4353509"/>
                </a:lnTo>
                <a:lnTo>
                  <a:pt x="15074" y="4369854"/>
                </a:lnTo>
                <a:lnTo>
                  <a:pt x="31419" y="4380877"/>
                </a:lnTo>
                <a:lnTo>
                  <a:pt x="51435" y="4384929"/>
                </a:lnTo>
                <a:lnTo>
                  <a:pt x="6811708" y="4384929"/>
                </a:lnTo>
                <a:lnTo>
                  <a:pt x="6831711" y="4380877"/>
                </a:lnTo>
                <a:lnTo>
                  <a:pt x="6848068" y="4369854"/>
                </a:lnTo>
                <a:lnTo>
                  <a:pt x="6859092" y="4353509"/>
                </a:lnTo>
                <a:lnTo>
                  <a:pt x="6863143" y="4333494"/>
                </a:lnTo>
                <a:lnTo>
                  <a:pt x="6863143" y="51435"/>
                </a:lnTo>
                <a:close/>
              </a:path>
            </a:pathLst>
          </a:custGeom>
          <a:solidFill>
            <a:srgbClr val="3A1F5C"/>
          </a:solidFill>
        </p:spPr>
        <p:txBody>
          <a:bodyPr wrap="square" lIns="0" tIns="0" rIns="0" bIns="0" rtlCol="0"/>
          <a:lstStyle/>
          <a:p>
            <a:endParaRPr dirty="0"/>
          </a:p>
        </p:txBody>
      </p:sp>
      <p:sp>
        <p:nvSpPr>
          <p:cNvPr id="9" name="object 9"/>
          <p:cNvSpPr txBox="1">
            <a:spLocks noGrp="1"/>
          </p:cNvSpPr>
          <p:nvPr>
            <p:ph type="ftr" sz="quarter" idx="5"/>
          </p:nvPr>
        </p:nvSpPr>
        <p:spPr>
          <a:prstGeom prst="rect">
            <a:avLst/>
          </a:prstGeom>
        </p:spPr>
        <p:txBody>
          <a:bodyPr vert="horz" wrap="square" lIns="0" tIns="15240" rIns="0" bIns="0" rtlCol="0">
            <a:spAutoFit/>
          </a:bodyPr>
          <a:lstStyle/>
          <a:p>
            <a:pPr marL="12700">
              <a:lnSpc>
                <a:spcPct val="100000"/>
              </a:lnSpc>
              <a:spcBef>
                <a:spcPts val="120"/>
              </a:spcBef>
            </a:pPr>
            <a:r>
              <a:rPr dirty="0"/>
              <a:t>Department</a:t>
            </a:r>
            <a:r>
              <a:rPr spc="60" dirty="0"/>
              <a:t> </a:t>
            </a:r>
            <a:r>
              <a:rPr dirty="0"/>
              <a:t>of</a:t>
            </a:r>
            <a:r>
              <a:rPr spc="65" dirty="0"/>
              <a:t> </a:t>
            </a:r>
            <a:r>
              <a:rPr dirty="0"/>
              <a:t>AI</a:t>
            </a:r>
            <a:r>
              <a:rPr spc="60" dirty="0"/>
              <a:t> </a:t>
            </a:r>
            <a:r>
              <a:rPr dirty="0"/>
              <a:t>&amp;</a:t>
            </a:r>
            <a:r>
              <a:rPr spc="65" dirty="0"/>
              <a:t> </a:t>
            </a:r>
            <a:r>
              <a:rPr spc="-25" dirty="0"/>
              <a:t>ML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8F8AFB3-C873-9CFC-1C10-A4B7C41F89A9}"/>
              </a:ext>
            </a:extLst>
          </p:cNvPr>
          <p:cNvSpPr>
            <a:spLocks noGrp="1"/>
          </p:cNvSpPr>
          <p:nvPr>
            <p:ph type="body" idx="1"/>
          </p:nvPr>
        </p:nvSpPr>
        <p:spPr>
          <a:xfrm>
            <a:off x="914400" y="2366010"/>
            <a:ext cx="16459200" cy="6432530"/>
          </a:xfrm>
        </p:spPr>
        <p:txBody>
          <a:bodyPr/>
          <a:lstStyle/>
          <a:p>
            <a:endParaRPr lang="en-IN" sz="2800" dirty="0"/>
          </a:p>
          <a:p>
            <a:r>
              <a:rPr lang="en-IN" sz="3600" b="1" dirty="0">
                <a:solidFill>
                  <a:schemeClr val="tx1"/>
                </a:solidFill>
              </a:rPr>
              <a:t>PROBLEM STATEMENT </a:t>
            </a:r>
          </a:p>
          <a:p>
            <a:endParaRPr lang="en-IN" sz="2800" dirty="0"/>
          </a:p>
          <a:p>
            <a:r>
              <a:rPr lang="en-IN" sz="2800" dirty="0"/>
              <a:t>Traditional learning systems often provide the same learning content, study plans, and assessments to all students. They do not effectively identify individual weaknesses or continuously adapt learning activities based on student performance.</a:t>
            </a:r>
          </a:p>
          <a:p>
            <a:endParaRPr lang="en-IN" sz="2800" dirty="0"/>
          </a:p>
          <a:p>
            <a:r>
              <a:rPr lang="en-IN" sz="2800" dirty="0"/>
              <a:t>Students may struggle to identify weak topics, find suitable learning resources, plan their studies, and evaluate their progress. Teachers also need an efficient way to manage learning resources and monitor student performance.</a:t>
            </a:r>
          </a:p>
          <a:p>
            <a:endParaRPr lang="en-IN" sz="2800" dirty="0"/>
          </a:p>
          <a:p>
            <a:r>
              <a:rPr lang="en-IN" sz="2800" dirty="0"/>
              <a:t>Therefore, there is a need for an Agentic AI-based personalized learning system that can </a:t>
            </a:r>
            <a:r>
              <a:rPr lang="en-IN" sz="2800" dirty="0" err="1"/>
              <a:t>analyze</a:t>
            </a:r>
            <a:r>
              <a:rPr lang="en-IN" sz="2800" dirty="0"/>
              <a:t> student performance, identify weak areas, recommend appropriate resources, create study plans, provide guidance, conduct assessments, and continuously update the student's learning progress.</a:t>
            </a:r>
          </a:p>
          <a:p>
            <a:endParaRPr lang="en-IN" dirty="0"/>
          </a:p>
        </p:txBody>
      </p:sp>
    </p:spTree>
    <p:extLst>
      <p:ext uri="{BB962C8B-B14F-4D97-AF65-F5344CB8AC3E}">
        <p14:creationId xmlns:p14="http://schemas.microsoft.com/office/powerpoint/2010/main" val="2185716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C3835-3826-021C-7893-AD08F1635D71}"/>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751C04BA-3F12-EA80-7B4B-F1FA36B940BF}"/>
              </a:ext>
            </a:extLst>
          </p:cNvPr>
          <p:cNvSpPr txBox="1">
            <a:spLocks noGrp="1"/>
          </p:cNvSpPr>
          <p:nvPr>
            <p:ph type="title"/>
          </p:nvPr>
        </p:nvSpPr>
        <p:spPr>
          <a:xfrm>
            <a:off x="1623240" y="2324100"/>
            <a:ext cx="14454960" cy="2044149"/>
          </a:xfrm>
          <a:prstGeom prst="rect">
            <a:avLst/>
          </a:prstGeom>
        </p:spPr>
        <p:txBody>
          <a:bodyPr vert="horz" wrap="square" lIns="0" tIns="12700" rIns="0" bIns="0" rtlCol="0">
            <a:spAutoFit/>
          </a:bodyPr>
          <a:lstStyle/>
          <a:p>
            <a:pPr marL="1446530">
              <a:lnSpc>
                <a:spcPct val="100000"/>
              </a:lnSpc>
              <a:spcBef>
                <a:spcPts val="100"/>
              </a:spcBef>
            </a:pPr>
            <a:br>
              <a:rPr lang="en-IN" sz="4400" spc="-10" dirty="0"/>
            </a:br>
            <a:br>
              <a:rPr lang="en-IN" sz="4400" spc="-10" dirty="0"/>
            </a:br>
            <a:endParaRPr sz="4400" spc="-10" dirty="0"/>
          </a:p>
        </p:txBody>
      </p:sp>
      <p:sp>
        <p:nvSpPr>
          <p:cNvPr id="3" name="object 3">
            <a:extLst>
              <a:ext uri="{FF2B5EF4-FFF2-40B4-BE49-F238E27FC236}">
                <a16:creationId xmlns:a16="http://schemas.microsoft.com/office/drawing/2014/main" id="{7265AB78-F026-0656-0529-5F086ED51992}"/>
              </a:ext>
            </a:extLst>
          </p:cNvPr>
          <p:cNvSpPr/>
          <p:nvPr/>
        </p:nvSpPr>
        <p:spPr>
          <a:xfrm>
            <a:off x="0" y="1790700"/>
            <a:ext cx="1371600" cy="8496300"/>
          </a:xfrm>
          <a:custGeom>
            <a:avLst/>
            <a:gdLst/>
            <a:ahLst/>
            <a:cxnLst/>
            <a:rect l="l" t="t" r="r" b="b"/>
            <a:pathLst>
              <a:path w="6863715" h="4385309">
                <a:moveTo>
                  <a:pt x="6863143" y="51435"/>
                </a:moveTo>
                <a:lnTo>
                  <a:pt x="6859092" y="31419"/>
                </a:lnTo>
                <a:lnTo>
                  <a:pt x="6848068" y="15074"/>
                </a:lnTo>
                <a:lnTo>
                  <a:pt x="6831711" y="4038"/>
                </a:lnTo>
                <a:lnTo>
                  <a:pt x="6811708" y="0"/>
                </a:lnTo>
                <a:lnTo>
                  <a:pt x="51435" y="0"/>
                </a:lnTo>
                <a:lnTo>
                  <a:pt x="31419" y="4038"/>
                </a:lnTo>
                <a:lnTo>
                  <a:pt x="15074" y="15074"/>
                </a:lnTo>
                <a:lnTo>
                  <a:pt x="4038" y="31419"/>
                </a:lnTo>
                <a:lnTo>
                  <a:pt x="0" y="51435"/>
                </a:lnTo>
                <a:lnTo>
                  <a:pt x="0" y="4333494"/>
                </a:lnTo>
                <a:lnTo>
                  <a:pt x="4038" y="4353509"/>
                </a:lnTo>
                <a:lnTo>
                  <a:pt x="15074" y="4369854"/>
                </a:lnTo>
                <a:lnTo>
                  <a:pt x="31419" y="4380877"/>
                </a:lnTo>
                <a:lnTo>
                  <a:pt x="51435" y="4384929"/>
                </a:lnTo>
                <a:lnTo>
                  <a:pt x="6811708" y="4384929"/>
                </a:lnTo>
                <a:lnTo>
                  <a:pt x="6831711" y="4380877"/>
                </a:lnTo>
                <a:lnTo>
                  <a:pt x="6848068" y="4369854"/>
                </a:lnTo>
                <a:lnTo>
                  <a:pt x="6859092" y="4353509"/>
                </a:lnTo>
                <a:lnTo>
                  <a:pt x="6863143" y="4333494"/>
                </a:lnTo>
                <a:lnTo>
                  <a:pt x="6863143" y="51435"/>
                </a:lnTo>
                <a:close/>
              </a:path>
            </a:pathLst>
          </a:custGeom>
          <a:solidFill>
            <a:srgbClr val="3A1F5C"/>
          </a:solidFill>
        </p:spPr>
        <p:txBody>
          <a:bodyPr wrap="square" lIns="0" tIns="0" rIns="0" bIns="0" rtlCol="0"/>
          <a:lstStyle/>
          <a:p>
            <a:endParaRPr dirty="0"/>
          </a:p>
        </p:txBody>
      </p:sp>
      <p:sp>
        <p:nvSpPr>
          <p:cNvPr id="9" name="object 9">
            <a:extLst>
              <a:ext uri="{FF2B5EF4-FFF2-40B4-BE49-F238E27FC236}">
                <a16:creationId xmlns:a16="http://schemas.microsoft.com/office/drawing/2014/main" id="{BA606CE8-5F43-DB99-CF50-95DDAA3C7333}"/>
              </a:ext>
            </a:extLst>
          </p:cNvPr>
          <p:cNvSpPr txBox="1">
            <a:spLocks noGrp="1"/>
          </p:cNvSpPr>
          <p:nvPr>
            <p:ph type="ftr" sz="quarter" idx="5"/>
          </p:nvPr>
        </p:nvSpPr>
        <p:spPr>
          <a:prstGeom prst="rect">
            <a:avLst/>
          </a:prstGeom>
        </p:spPr>
        <p:txBody>
          <a:bodyPr vert="horz" wrap="square" lIns="0" tIns="15240" rIns="0" bIns="0" rtlCol="0">
            <a:spAutoFit/>
          </a:bodyPr>
          <a:lstStyle/>
          <a:p>
            <a:pPr marL="12700">
              <a:lnSpc>
                <a:spcPct val="100000"/>
              </a:lnSpc>
              <a:spcBef>
                <a:spcPts val="120"/>
              </a:spcBef>
            </a:pPr>
            <a:r>
              <a:rPr dirty="0"/>
              <a:t>Department</a:t>
            </a:r>
            <a:r>
              <a:rPr spc="60" dirty="0"/>
              <a:t> </a:t>
            </a:r>
            <a:r>
              <a:rPr dirty="0"/>
              <a:t>of</a:t>
            </a:r>
            <a:r>
              <a:rPr spc="65" dirty="0"/>
              <a:t> </a:t>
            </a:r>
            <a:r>
              <a:rPr dirty="0"/>
              <a:t>AI</a:t>
            </a:r>
            <a:r>
              <a:rPr spc="60" dirty="0"/>
              <a:t> </a:t>
            </a:r>
            <a:r>
              <a:rPr dirty="0"/>
              <a:t>&amp;</a:t>
            </a:r>
            <a:r>
              <a:rPr spc="65" dirty="0"/>
              <a:t> </a:t>
            </a:r>
            <a:r>
              <a:rPr spc="-25" dirty="0"/>
              <a:t>ML</a:t>
            </a:r>
          </a:p>
        </p:txBody>
      </p:sp>
      <p:pic>
        <p:nvPicPr>
          <p:cNvPr id="5" name="Picture 4" descr="The image depicts a structured educational platform architecture with layers for user interfaces, backend services, specialized agents, and a data storage system, facilitating student progress monitoring, content management, and assessment.&#10;&#10;AI-generated content may be incorrect.">
            <a:extLst>
              <a:ext uri="{FF2B5EF4-FFF2-40B4-BE49-F238E27FC236}">
                <a16:creationId xmlns:a16="http://schemas.microsoft.com/office/drawing/2014/main" id="{B32320CA-702E-C277-DD05-609D285D67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9988" y="1994923"/>
            <a:ext cx="15928023" cy="8087854"/>
          </a:xfrm>
          <a:prstGeom prst="rect">
            <a:avLst/>
          </a:prstGeom>
        </p:spPr>
      </p:pic>
      <p:sp>
        <p:nvSpPr>
          <p:cNvPr id="7" name="TextBox 6">
            <a:extLst>
              <a:ext uri="{FF2B5EF4-FFF2-40B4-BE49-F238E27FC236}">
                <a16:creationId xmlns:a16="http://schemas.microsoft.com/office/drawing/2014/main" id="{9BEFB933-CF5C-1CE4-8DCF-B8E96E929663}"/>
              </a:ext>
            </a:extLst>
          </p:cNvPr>
          <p:cNvSpPr txBox="1"/>
          <p:nvPr/>
        </p:nvSpPr>
        <p:spPr>
          <a:xfrm>
            <a:off x="5410200" y="800100"/>
            <a:ext cx="10134600" cy="830997"/>
          </a:xfrm>
          <a:prstGeom prst="rect">
            <a:avLst/>
          </a:prstGeom>
          <a:noFill/>
        </p:spPr>
        <p:txBody>
          <a:bodyPr wrap="square">
            <a:spAutoFit/>
          </a:bodyPr>
          <a:lstStyle/>
          <a:p>
            <a:pPr>
              <a:buNone/>
            </a:pPr>
            <a:r>
              <a:rPr lang="en-IN" sz="4800" dirty="0"/>
              <a:t>System Architecture </a:t>
            </a:r>
          </a:p>
        </p:txBody>
      </p:sp>
    </p:spTree>
    <p:extLst>
      <p:ext uri="{BB962C8B-B14F-4D97-AF65-F5344CB8AC3E}">
        <p14:creationId xmlns:p14="http://schemas.microsoft.com/office/powerpoint/2010/main" val="1384679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4226CEFB-5990-25C8-8CDC-6CD0622F8C0B}"/>
              </a:ext>
            </a:extLst>
          </p:cNvPr>
          <p:cNvSpPr>
            <a:spLocks noGrp="1"/>
          </p:cNvSpPr>
          <p:nvPr>
            <p:ph type="body" idx="1"/>
          </p:nvPr>
        </p:nvSpPr>
        <p:spPr>
          <a:xfrm>
            <a:off x="457200" y="1362446"/>
            <a:ext cx="17438408" cy="892455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7" name="Rectangle: Rounded Corners 6">
            <a:extLst>
              <a:ext uri="{FF2B5EF4-FFF2-40B4-BE49-F238E27FC236}">
                <a16:creationId xmlns:a16="http://schemas.microsoft.com/office/drawing/2014/main" id="{CDAE3B9E-E944-5871-F1A9-6DA94734AC56}"/>
              </a:ext>
            </a:extLst>
          </p:cNvPr>
          <p:cNvSpPr/>
          <p:nvPr/>
        </p:nvSpPr>
        <p:spPr>
          <a:xfrm>
            <a:off x="7042804" y="1313545"/>
            <a:ext cx="5415896" cy="236401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solidFill>
                  <a:schemeClr val="tx1"/>
                </a:solidFill>
              </a:rPr>
              <a:t>Academic brain coordinator </a:t>
            </a:r>
          </a:p>
          <a:p>
            <a:pPr algn="ctr"/>
            <a:r>
              <a:rPr lang="en-IN" dirty="0"/>
              <a:t>It controls the overall task and make decision. What each agents can do </a:t>
            </a:r>
          </a:p>
          <a:p>
            <a:pPr algn="ctr"/>
            <a:r>
              <a:rPr lang="en-IN" dirty="0"/>
              <a:t>It </a:t>
            </a:r>
            <a:r>
              <a:rPr lang="en-IN" dirty="0" err="1"/>
              <a:t>analyze</a:t>
            </a:r>
            <a:r>
              <a:rPr lang="en-IN" dirty="0"/>
              <a:t> mastery level and accuracy level of the student and provide the learning path </a:t>
            </a:r>
          </a:p>
          <a:p>
            <a:pPr algn="ctr"/>
            <a:r>
              <a:rPr lang="en-IN" dirty="0"/>
              <a:t>It is implemented as part of the </a:t>
            </a:r>
            <a:r>
              <a:rPr lang="en-IN" dirty="0" err="1"/>
              <a:t>LangGraph</a:t>
            </a:r>
            <a:r>
              <a:rPr lang="en-IN" dirty="0"/>
              <a:t> agent</a:t>
            </a:r>
          </a:p>
          <a:p>
            <a:pPr algn="ctr"/>
            <a:endParaRPr lang="en-IN" dirty="0"/>
          </a:p>
        </p:txBody>
      </p:sp>
      <p:sp>
        <p:nvSpPr>
          <p:cNvPr id="8" name="Rectangle: Rounded Corners 7">
            <a:extLst>
              <a:ext uri="{FF2B5EF4-FFF2-40B4-BE49-F238E27FC236}">
                <a16:creationId xmlns:a16="http://schemas.microsoft.com/office/drawing/2014/main" id="{7E619B76-2D7E-3863-4C35-03BBCF3E4C8D}"/>
              </a:ext>
            </a:extLst>
          </p:cNvPr>
          <p:cNvSpPr/>
          <p:nvPr/>
        </p:nvSpPr>
        <p:spPr>
          <a:xfrm>
            <a:off x="6324600" y="4210960"/>
            <a:ext cx="5415896" cy="216483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RESOURSE AGENT</a:t>
            </a:r>
          </a:p>
          <a:p>
            <a:pPr algn="ctr"/>
            <a:endParaRPr lang="en-IN" dirty="0"/>
          </a:p>
          <a:p>
            <a:pPr algn="ctr"/>
            <a:r>
              <a:rPr lang="en-IN" dirty="0"/>
              <a:t>The Resource Agent provides the student with learning materials uploaded by the teacher</a:t>
            </a:r>
          </a:p>
          <a:p>
            <a:pPr algn="ctr"/>
            <a:r>
              <a:rPr lang="en-IN" dirty="0"/>
              <a:t>The student receives the original document. </a:t>
            </a:r>
          </a:p>
        </p:txBody>
      </p:sp>
      <p:sp>
        <p:nvSpPr>
          <p:cNvPr id="9" name="Rectangle: Rounded Corners 8">
            <a:extLst>
              <a:ext uri="{FF2B5EF4-FFF2-40B4-BE49-F238E27FC236}">
                <a16:creationId xmlns:a16="http://schemas.microsoft.com/office/drawing/2014/main" id="{9D69B785-53FF-904C-496C-FC82CEEF6DAD}"/>
              </a:ext>
            </a:extLst>
          </p:cNvPr>
          <p:cNvSpPr/>
          <p:nvPr/>
        </p:nvSpPr>
        <p:spPr>
          <a:xfrm>
            <a:off x="12151052" y="4210960"/>
            <a:ext cx="5142288" cy="216483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Strategist Agent</a:t>
            </a:r>
          </a:p>
          <a:p>
            <a:pPr algn="ctr"/>
            <a:endParaRPr lang="en-IN" dirty="0"/>
          </a:p>
          <a:p>
            <a:pPr algn="ctr"/>
            <a:r>
              <a:rPr lang="en-IN" dirty="0"/>
              <a:t>Based on your current performance </a:t>
            </a:r>
          </a:p>
          <a:p>
            <a:pPr algn="ctr"/>
            <a:r>
              <a:rPr lang="en-IN" dirty="0"/>
              <a:t>The Strategist Agent decides </a:t>
            </a:r>
            <a:r>
              <a:rPr lang="en-IN" b="1" dirty="0"/>
              <a:t>what the student should do </a:t>
            </a:r>
            <a:r>
              <a:rPr lang="en-IN" b="1" dirty="0" err="1"/>
              <a:t>next</a:t>
            </a:r>
            <a:r>
              <a:rPr lang="en-IN" dirty="0" err="1"/>
              <a:t>.It</a:t>
            </a:r>
            <a:r>
              <a:rPr lang="en-IN" dirty="0"/>
              <a:t> provides the learning Path for the </a:t>
            </a:r>
            <a:r>
              <a:rPr lang="en-IN" dirty="0" err="1"/>
              <a:t>StuDents</a:t>
            </a:r>
            <a:endParaRPr lang="en-IN" dirty="0"/>
          </a:p>
        </p:txBody>
      </p:sp>
      <p:sp>
        <p:nvSpPr>
          <p:cNvPr id="10" name="Rectangle: Rounded Corners 9">
            <a:extLst>
              <a:ext uri="{FF2B5EF4-FFF2-40B4-BE49-F238E27FC236}">
                <a16:creationId xmlns:a16="http://schemas.microsoft.com/office/drawing/2014/main" id="{F9861FD7-F40B-A87E-5E9F-45C6249E229C}"/>
              </a:ext>
            </a:extLst>
          </p:cNvPr>
          <p:cNvSpPr/>
          <p:nvPr/>
        </p:nvSpPr>
        <p:spPr>
          <a:xfrm>
            <a:off x="12231312" y="6909198"/>
            <a:ext cx="5142288" cy="295870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Progress Monitor Agent</a:t>
            </a:r>
          </a:p>
          <a:p>
            <a:pPr algn="ctr"/>
            <a:r>
              <a:rPr lang="en-IN" dirty="0"/>
              <a:t>This agent checks </a:t>
            </a:r>
            <a:r>
              <a:rPr lang="en-IN" b="1" dirty="0"/>
              <a:t>what happened after learning or assessment</a:t>
            </a:r>
            <a:r>
              <a:rPr lang="en-IN" dirty="0"/>
              <a:t>.</a:t>
            </a:r>
          </a:p>
          <a:p>
            <a:r>
              <a:rPr lang="en-IN" dirty="0"/>
              <a:t>It can track:</a:t>
            </a:r>
          </a:p>
          <a:p>
            <a:pPr lvl="0"/>
            <a:r>
              <a:rPr lang="en-IN" dirty="0"/>
              <a:t>Score</a:t>
            </a:r>
          </a:p>
          <a:p>
            <a:pPr lvl="0"/>
            <a:r>
              <a:rPr lang="en-IN" dirty="0"/>
              <a:t>Accuracy</a:t>
            </a:r>
          </a:p>
          <a:p>
            <a:pPr lvl="0"/>
            <a:r>
              <a:rPr lang="en-IN" dirty="0"/>
              <a:t>Attempts</a:t>
            </a:r>
          </a:p>
          <a:p>
            <a:pPr lvl="0"/>
            <a:r>
              <a:rPr lang="en-IN" dirty="0"/>
              <a:t>Topic mastery</a:t>
            </a:r>
          </a:p>
          <a:p>
            <a:pPr lvl="0"/>
            <a:r>
              <a:rPr lang="en-IN" dirty="0"/>
              <a:t>Without the Progress Monitor, the system would not know whether the student improved.</a:t>
            </a:r>
          </a:p>
          <a:p>
            <a:pPr algn="ctr"/>
            <a:endParaRPr lang="en-IN" dirty="0"/>
          </a:p>
        </p:txBody>
      </p:sp>
      <p:sp>
        <p:nvSpPr>
          <p:cNvPr id="11" name="Rectangle: Rounded Corners 10">
            <a:extLst>
              <a:ext uri="{FF2B5EF4-FFF2-40B4-BE49-F238E27FC236}">
                <a16:creationId xmlns:a16="http://schemas.microsoft.com/office/drawing/2014/main" id="{58CD829C-A4C8-1328-FD25-0015F7D8B9EC}"/>
              </a:ext>
            </a:extLst>
          </p:cNvPr>
          <p:cNvSpPr/>
          <p:nvPr/>
        </p:nvSpPr>
        <p:spPr>
          <a:xfrm>
            <a:off x="6709660" y="6909198"/>
            <a:ext cx="5174694" cy="295870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IN" dirty="0"/>
              <a:t>                          EXAMINER AGENT</a:t>
            </a:r>
          </a:p>
          <a:p>
            <a:r>
              <a:rPr lang="en-IN" dirty="0"/>
              <a:t>The Examiner Agent handles </a:t>
            </a:r>
            <a:r>
              <a:rPr lang="en-IN" b="1" dirty="0"/>
              <a:t>practice and assessment</a:t>
            </a:r>
            <a:r>
              <a:rPr lang="en-IN" dirty="0"/>
              <a:t>.</a:t>
            </a:r>
          </a:p>
          <a:p>
            <a:r>
              <a:rPr lang="en-IN" dirty="0"/>
              <a:t>It can generate questions based on:</a:t>
            </a:r>
          </a:p>
          <a:p>
            <a:pPr lvl="0"/>
            <a:r>
              <a:rPr lang="en-IN" dirty="0"/>
              <a:t>Topic</a:t>
            </a:r>
          </a:p>
          <a:p>
            <a:pPr lvl="0"/>
            <a:r>
              <a:rPr lang="en-IN" dirty="0"/>
              <a:t>Student level</a:t>
            </a:r>
          </a:p>
          <a:p>
            <a:pPr lvl="0"/>
            <a:r>
              <a:rPr lang="en-IN" dirty="0"/>
              <a:t>Mastery</a:t>
            </a:r>
          </a:p>
          <a:p>
            <a:pPr lvl="0"/>
            <a:r>
              <a:rPr lang="en-IN" dirty="0"/>
              <a:t>Difficulty</a:t>
            </a:r>
          </a:p>
          <a:p>
            <a:pPr lvl="0"/>
            <a:r>
              <a:rPr lang="en-IN" dirty="0"/>
              <a:t>Weak concepts</a:t>
            </a:r>
          </a:p>
        </p:txBody>
      </p:sp>
      <p:sp>
        <p:nvSpPr>
          <p:cNvPr id="12" name="Rectangle: Rounded Corners 11">
            <a:extLst>
              <a:ext uri="{FF2B5EF4-FFF2-40B4-BE49-F238E27FC236}">
                <a16:creationId xmlns:a16="http://schemas.microsoft.com/office/drawing/2014/main" id="{CB695427-16B0-687B-8CF9-9F4DCDCD1761}"/>
              </a:ext>
            </a:extLst>
          </p:cNvPr>
          <p:cNvSpPr/>
          <p:nvPr/>
        </p:nvSpPr>
        <p:spPr>
          <a:xfrm>
            <a:off x="1295400" y="4210960"/>
            <a:ext cx="4618644" cy="216483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DETECTIVE  AGENT</a:t>
            </a:r>
          </a:p>
          <a:p>
            <a:pPr algn="ctr"/>
            <a:r>
              <a:rPr lang="en-IN" dirty="0"/>
              <a:t>It Identifies the</a:t>
            </a:r>
          </a:p>
          <a:p>
            <a:pPr rtl="0"/>
            <a:r>
              <a:rPr lang="en-IN" dirty="0">
                <a:solidFill>
                  <a:schemeClr val="dk1"/>
                </a:solidFill>
                <a:latin typeface="+mn-lt"/>
                <a:ea typeface="+mn-ea"/>
                <a:cs typeface="+mn-cs"/>
              </a:rPr>
              <a:t>Weak Topic</a:t>
            </a:r>
          </a:p>
          <a:p>
            <a:pPr rtl="0"/>
            <a:r>
              <a:rPr lang="en-IN" dirty="0">
                <a:solidFill>
                  <a:schemeClr val="dk1"/>
                </a:solidFill>
                <a:latin typeface="+mn-lt"/>
                <a:ea typeface="+mn-ea"/>
                <a:cs typeface="+mn-cs"/>
              </a:rPr>
              <a:t>Weak Concept</a:t>
            </a:r>
          </a:p>
          <a:p>
            <a:pPr rtl="0"/>
            <a:r>
              <a:rPr lang="en-IN" dirty="0">
                <a:solidFill>
                  <a:schemeClr val="dk1"/>
                </a:solidFill>
                <a:latin typeface="+mn-lt"/>
                <a:ea typeface="+mn-ea"/>
                <a:cs typeface="+mn-cs"/>
              </a:rPr>
              <a:t>Low Mastery</a:t>
            </a:r>
          </a:p>
          <a:p>
            <a:pPr rtl="0"/>
            <a:r>
              <a:rPr lang="en-IN" dirty="0">
                <a:solidFill>
                  <a:schemeClr val="dk1"/>
                </a:solidFill>
                <a:latin typeface="+mn-lt"/>
                <a:ea typeface="+mn-ea"/>
                <a:cs typeface="+mn-cs"/>
              </a:rPr>
              <a:t>Repeated Mistake</a:t>
            </a:r>
          </a:p>
          <a:p>
            <a:pPr algn="ctr"/>
            <a:r>
              <a:rPr lang="en-IN" dirty="0"/>
              <a:t> </a:t>
            </a:r>
          </a:p>
        </p:txBody>
      </p:sp>
      <p:sp>
        <p:nvSpPr>
          <p:cNvPr id="13" name="Rectangle: Rounded Corners 12">
            <a:extLst>
              <a:ext uri="{FF2B5EF4-FFF2-40B4-BE49-F238E27FC236}">
                <a16:creationId xmlns:a16="http://schemas.microsoft.com/office/drawing/2014/main" id="{9F261FCC-7DFB-C845-09FF-F6461EC35FCF}"/>
              </a:ext>
            </a:extLst>
          </p:cNvPr>
          <p:cNvSpPr/>
          <p:nvPr/>
        </p:nvSpPr>
        <p:spPr>
          <a:xfrm>
            <a:off x="987752" y="7034996"/>
            <a:ext cx="5415896" cy="25928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Mentor Agent</a:t>
            </a:r>
          </a:p>
          <a:p>
            <a:pPr algn="ctr"/>
            <a:endParaRPr lang="en-IN" dirty="0"/>
          </a:p>
          <a:p>
            <a:pPr algn="ctr"/>
            <a:r>
              <a:rPr lang="en-IN" dirty="0"/>
              <a:t>The Mentor Agent acts like a </a:t>
            </a:r>
            <a:r>
              <a:rPr lang="en-IN" b="1" dirty="0"/>
              <a:t>personal tutor</a:t>
            </a:r>
            <a:r>
              <a:rPr lang="en-IN" dirty="0"/>
              <a:t>.</a:t>
            </a:r>
          </a:p>
          <a:p>
            <a:pPr lvl="0"/>
            <a:r>
              <a:rPr lang="en-IN" dirty="0"/>
              <a:t>        Based on Student level Current topic Weak         concepts  this agent  explains the particular concept</a:t>
            </a:r>
          </a:p>
          <a:p>
            <a:pPr algn="ctr"/>
            <a:endParaRPr lang="en-IN" dirty="0"/>
          </a:p>
        </p:txBody>
      </p:sp>
    </p:spTree>
    <p:extLst>
      <p:ext uri="{BB962C8B-B14F-4D97-AF65-F5344CB8AC3E}">
        <p14:creationId xmlns:p14="http://schemas.microsoft.com/office/powerpoint/2010/main" val="1657606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5A8B5-C763-FD11-3B23-C808D9A76194}"/>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718156B9-1065-5DE0-639D-9189CD3E7458}"/>
              </a:ext>
            </a:extLst>
          </p:cNvPr>
          <p:cNvSpPr txBox="1">
            <a:spLocks noGrp="1"/>
          </p:cNvSpPr>
          <p:nvPr>
            <p:ph type="title"/>
          </p:nvPr>
        </p:nvSpPr>
        <p:spPr>
          <a:xfrm>
            <a:off x="1623240" y="2324101"/>
            <a:ext cx="14912160" cy="1120820"/>
          </a:xfrm>
          <a:prstGeom prst="rect">
            <a:avLst/>
          </a:prstGeom>
        </p:spPr>
        <p:txBody>
          <a:bodyPr vert="horz" wrap="square" lIns="0" tIns="12700" rIns="0" bIns="0" rtlCol="0">
            <a:spAutoFit/>
          </a:bodyPr>
          <a:lstStyle/>
          <a:p>
            <a:br>
              <a:rPr lang="en-IN" sz="2400" spc="-10" dirty="0">
                <a:solidFill>
                  <a:schemeClr val="tx1"/>
                </a:solidFill>
              </a:rPr>
            </a:br>
            <a:br>
              <a:rPr lang="en-IN" sz="2400" spc="-10" dirty="0">
                <a:solidFill>
                  <a:schemeClr val="tx1"/>
                </a:solidFill>
              </a:rPr>
            </a:br>
            <a:endParaRPr sz="2400" spc="-10" dirty="0">
              <a:solidFill>
                <a:schemeClr val="tx1"/>
              </a:solidFill>
            </a:endParaRPr>
          </a:p>
        </p:txBody>
      </p:sp>
      <p:sp>
        <p:nvSpPr>
          <p:cNvPr id="3" name="object 3">
            <a:extLst>
              <a:ext uri="{FF2B5EF4-FFF2-40B4-BE49-F238E27FC236}">
                <a16:creationId xmlns:a16="http://schemas.microsoft.com/office/drawing/2014/main" id="{D4D9B295-E66B-521F-A16B-90A64322A89B}"/>
              </a:ext>
            </a:extLst>
          </p:cNvPr>
          <p:cNvSpPr/>
          <p:nvPr/>
        </p:nvSpPr>
        <p:spPr>
          <a:xfrm>
            <a:off x="0" y="1790700"/>
            <a:ext cx="1371600" cy="8496300"/>
          </a:xfrm>
          <a:custGeom>
            <a:avLst/>
            <a:gdLst/>
            <a:ahLst/>
            <a:cxnLst/>
            <a:rect l="l" t="t" r="r" b="b"/>
            <a:pathLst>
              <a:path w="6863715" h="4385309">
                <a:moveTo>
                  <a:pt x="6863143" y="51435"/>
                </a:moveTo>
                <a:lnTo>
                  <a:pt x="6859092" y="31419"/>
                </a:lnTo>
                <a:lnTo>
                  <a:pt x="6848068" y="15074"/>
                </a:lnTo>
                <a:lnTo>
                  <a:pt x="6831711" y="4038"/>
                </a:lnTo>
                <a:lnTo>
                  <a:pt x="6811708" y="0"/>
                </a:lnTo>
                <a:lnTo>
                  <a:pt x="51435" y="0"/>
                </a:lnTo>
                <a:lnTo>
                  <a:pt x="31419" y="4038"/>
                </a:lnTo>
                <a:lnTo>
                  <a:pt x="15074" y="15074"/>
                </a:lnTo>
                <a:lnTo>
                  <a:pt x="4038" y="31419"/>
                </a:lnTo>
                <a:lnTo>
                  <a:pt x="0" y="51435"/>
                </a:lnTo>
                <a:lnTo>
                  <a:pt x="0" y="4333494"/>
                </a:lnTo>
                <a:lnTo>
                  <a:pt x="4038" y="4353509"/>
                </a:lnTo>
                <a:lnTo>
                  <a:pt x="15074" y="4369854"/>
                </a:lnTo>
                <a:lnTo>
                  <a:pt x="31419" y="4380877"/>
                </a:lnTo>
                <a:lnTo>
                  <a:pt x="51435" y="4384929"/>
                </a:lnTo>
                <a:lnTo>
                  <a:pt x="6811708" y="4384929"/>
                </a:lnTo>
                <a:lnTo>
                  <a:pt x="6831711" y="4380877"/>
                </a:lnTo>
                <a:lnTo>
                  <a:pt x="6848068" y="4369854"/>
                </a:lnTo>
                <a:lnTo>
                  <a:pt x="6859092" y="4353509"/>
                </a:lnTo>
                <a:lnTo>
                  <a:pt x="6863143" y="4333494"/>
                </a:lnTo>
                <a:lnTo>
                  <a:pt x="6863143" y="51435"/>
                </a:lnTo>
                <a:close/>
              </a:path>
            </a:pathLst>
          </a:custGeom>
          <a:solidFill>
            <a:srgbClr val="3A1F5C"/>
          </a:solidFill>
        </p:spPr>
        <p:txBody>
          <a:bodyPr wrap="square" lIns="0" tIns="0" rIns="0" bIns="0" rtlCol="0"/>
          <a:lstStyle/>
          <a:p>
            <a:endParaRPr dirty="0"/>
          </a:p>
        </p:txBody>
      </p:sp>
      <p:sp>
        <p:nvSpPr>
          <p:cNvPr id="9" name="object 9">
            <a:extLst>
              <a:ext uri="{FF2B5EF4-FFF2-40B4-BE49-F238E27FC236}">
                <a16:creationId xmlns:a16="http://schemas.microsoft.com/office/drawing/2014/main" id="{1DDB8641-1475-8BD5-8163-F9F31B28FF2B}"/>
              </a:ext>
            </a:extLst>
          </p:cNvPr>
          <p:cNvSpPr txBox="1">
            <a:spLocks noGrp="1"/>
          </p:cNvSpPr>
          <p:nvPr>
            <p:ph type="ftr" sz="quarter" idx="5"/>
          </p:nvPr>
        </p:nvSpPr>
        <p:spPr>
          <a:prstGeom prst="rect">
            <a:avLst/>
          </a:prstGeom>
        </p:spPr>
        <p:txBody>
          <a:bodyPr vert="horz" wrap="square" lIns="0" tIns="15240" rIns="0" bIns="0" rtlCol="0">
            <a:spAutoFit/>
          </a:bodyPr>
          <a:lstStyle/>
          <a:p>
            <a:pPr marL="12700">
              <a:lnSpc>
                <a:spcPct val="100000"/>
              </a:lnSpc>
              <a:spcBef>
                <a:spcPts val="120"/>
              </a:spcBef>
            </a:pPr>
            <a:r>
              <a:rPr dirty="0"/>
              <a:t>Department</a:t>
            </a:r>
            <a:r>
              <a:rPr spc="60" dirty="0"/>
              <a:t> </a:t>
            </a:r>
            <a:r>
              <a:rPr dirty="0"/>
              <a:t>of</a:t>
            </a:r>
            <a:r>
              <a:rPr spc="65" dirty="0"/>
              <a:t> </a:t>
            </a:r>
            <a:r>
              <a:rPr dirty="0"/>
              <a:t>AI</a:t>
            </a:r>
            <a:r>
              <a:rPr spc="60" dirty="0"/>
              <a:t> </a:t>
            </a:r>
            <a:r>
              <a:rPr dirty="0"/>
              <a:t>&amp;</a:t>
            </a:r>
            <a:r>
              <a:rPr spc="65" dirty="0"/>
              <a:t> </a:t>
            </a:r>
            <a:r>
              <a:rPr spc="-25" dirty="0"/>
              <a:t>ML</a:t>
            </a:r>
          </a:p>
        </p:txBody>
      </p:sp>
      <p:sp>
        <p:nvSpPr>
          <p:cNvPr id="5" name="TextBox 4">
            <a:extLst>
              <a:ext uri="{FF2B5EF4-FFF2-40B4-BE49-F238E27FC236}">
                <a16:creationId xmlns:a16="http://schemas.microsoft.com/office/drawing/2014/main" id="{8D6545A3-B652-EB17-1930-CADE254E5F2D}"/>
              </a:ext>
            </a:extLst>
          </p:cNvPr>
          <p:cNvSpPr txBox="1"/>
          <p:nvPr/>
        </p:nvSpPr>
        <p:spPr>
          <a:xfrm>
            <a:off x="5105400" y="723900"/>
            <a:ext cx="9144000" cy="707886"/>
          </a:xfrm>
          <a:prstGeom prst="rect">
            <a:avLst/>
          </a:prstGeom>
          <a:noFill/>
        </p:spPr>
        <p:txBody>
          <a:bodyPr wrap="square">
            <a:spAutoFit/>
          </a:bodyPr>
          <a:lstStyle/>
          <a:p>
            <a:r>
              <a:rPr lang="en-IN" sz="4000" b="0" i="0" dirty="0">
                <a:solidFill>
                  <a:sysClr val="windowText" lastClr="000000"/>
                </a:solidFill>
                <a:effectLst/>
                <a:latin typeface="-apple-system-body"/>
              </a:rPr>
              <a:t>LANGRAPH ORCHESTRATION</a:t>
            </a:r>
            <a:endParaRPr lang="en-IN" sz="4000" dirty="0"/>
          </a:p>
        </p:txBody>
      </p:sp>
      <p:pic>
        <p:nvPicPr>
          <p:cNvPr id="10" name="Picture 9" descr="This image depicts a flowchart outlining the steps for a student to become a certified Special Needs Assistant, including completing an online course, submitting an application, and receiving a certificate.&#10;&#10;AI-generated content may be incorrect.">
            <a:extLst>
              <a:ext uri="{FF2B5EF4-FFF2-40B4-BE49-F238E27FC236}">
                <a16:creationId xmlns:a16="http://schemas.microsoft.com/office/drawing/2014/main" id="{EF83B25D-00E7-0453-9943-A1EA30CFF7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7520" y="4835316"/>
            <a:ext cx="13563599" cy="4267198"/>
          </a:xfrm>
          <a:prstGeom prst="rect">
            <a:avLst/>
          </a:prstGeom>
        </p:spPr>
      </p:pic>
      <p:sp>
        <p:nvSpPr>
          <p:cNvPr id="12" name="TextBox 11">
            <a:extLst>
              <a:ext uri="{FF2B5EF4-FFF2-40B4-BE49-F238E27FC236}">
                <a16:creationId xmlns:a16="http://schemas.microsoft.com/office/drawing/2014/main" id="{FBBDBA39-D044-765A-57FB-E8FFEAD76CF8}"/>
              </a:ext>
            </a:extLst>
          </p:cNvPr>
          <p:cNvSpPr txBox="1"/>
          <p:nvPr/>
        </p:nvSpPr>
        <p:spPr>
          <a:xfrm>
            <a:off x="2362200" y="2674536"/>
            <a:ext cx="13868400" cy="1384995"/>
          </a:xfrm>
          <a:prstGeom prst="rect">
            <a:avLst/>
          </a:prstGeom>
          <a:noFill/>
        </p:spPr>
        <p:txBody>
          <a:bodyPr wrap="square">
            <a:spAutoFit/>
          </a:bodyPr>
          <a:lstStyle/>
          <a:p>
            <a:r>
              <a:rPr lang="en-IN" sz="2800" dirty="0" err="1"/>
              <a:t>LangGraph</a:t>
            </a:r>
            <a:r>
              <a:rPr lang="en-IN" sz="2800" dirty="0"/>
              <a:t> is used to coordinate the AI agents. It controls the workflow by selecting the right agent based on the student's current learning state and manages the flow between agents.</a:t>
            </a:r>
          </a:p>
        </p:txBody>
      </p:sp>
    </p:spTree>
    <p:extLst>
      <p:ext uri="{BB962C8B-B14F-4D97-AF65-F5344CB8AC3E}">
        <p14:creationId xmlns:p14="http://schemas.microsoft.com/office/powerpoint/2010/main" val="3073456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4C6F4-537F-9825-1A9C-BE87B08AB3E8}"/>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09668708-EAB9-788D-5EDE-0F705CCFD359}"/>
              </a:ext>
            </a:extLst>
          </p:cNvPr>
          <p:cNvSpPr txBox="1">
            <a:spLocks noGrp="1"/>
          </p:cNvSpPr>
          <p:nvPr>
            <p:ph type="title"/>
          </p:nvPr>
        </p:nvSpPr>
        <p:spPr>
          <a:xfrm>
            <a:off x="1623240" y="2324100"/>
            <a:ext cx="14454960" cy="2044149"/>
          </a:xfrm>
          <a:prstGeom prst="rect">
            <a:avLst/>
          </a:prstGeom>
        </p:spPr>
        <p:txBody>
          <a:bodyPr vert="horz" wrap="square" lIns="0" tIns="12700" rIns="0" bIns="0" rtlCol="0">
            <a:spAutoFit/>
          </a:bodyPr>
          <a:lstStyle/>
          <a:p>
            <a:pPr marL="1446530">
              <a:lnSpc>
                <a:spcPct val="100000"/>
              </a:lnSpc>
              <a:spcBef>
                <a:spcPts val="100"/>
              </a:spcBef>
            </a:pPr>
            <a:br>
              <a:rPr lang="en-IN" sz="4400" spc="-10" dirty="0"/>
            </a:br>
            <a:br>
              <a:rPr lang="en-IN" sz="4400" spc="-10" dirty="0"/>
            </a:br>
            <a:endParaRPr sz="4400" spc="-10" dirty="0"/>
          </a:p>
        </p:txBody>
      </p:sp>
      <p:sp>
        <p:nvSpPr>
          <p:cNvPr id="3" name="object 3">
            <a:extLst>
              <a:ext uri="{FF2B5EF4-FFF2-40B4-BE49-F238E27FC236}">
                <a16:creationId xmlns:a16="http://schemas.microsoft.com/office/drawing/2014/main" id="{8B408D7D-BC5B-CF87-CBBE-5CE8E951571A}"/>
              </a:ext>
            </a:extLst>
          </p:cNvPr>
          <p:cNvSpPr/>
          <p:nvPr/>
        </p:nvSpPr>
        <p:spPr>
          <a:xfrm>
            <a:off x="0" y="1790700"/>
            <a:ext cx="1371600" cy="8496300"/>
          </a:xfrm>
          <a:custGeom>
            <a:avLst/>
            <a:gdLst/>
            <a:ahLst/>
            <a:cxnLst/>
            <a:rect l="l" t="t" r="r" b="b"/>
            <a:pathLst>
              <a:path w="6863715" h="4385309">
                <a:moveTo>
                  <a:pt x="6863143" y="51435"/>
                </a:moveTo>
                <a:lnTo>
                  <a:pt x="6859092" y="31419"/>
                </a:lnTo>
                <a:lnTo>
                  <a:pt x="6848068" y="15074"/>
                </a:lnTo>
                <a:lnTo>
                  <a:pt x="6831711" y="4038"/>
                </a:lnTo>
                <a:lnTo>
                  <a:pt x="6811708" y="0"/>
                </a:lnTo>
                <a:lnTo>
                  <a:pt x="51435" y="0"/>
                </a:lnTo>
                <a:lnTo>
                  <a:pt x="31419" y="4038"/>
                </a:lnTo>
                <a:lnTo>
                  <a:pt x="15074" y="15074"/>
                </a:lnTo>
                <a:lnTo>
                  <a:pt x="4038" y="31419"/>
                </a:lnTo>
                <a:lnTo>
                  <a:pt x="0" y="51435"/>
                </a:lnTo>
                <a:lnTo>
                  <a:pt x="0" y="4333494"/>
                </a:lnTo>
                <a:lnTo>
                  <a:pt x="4038" y="4353509"/>
                </a:lnTo>
                <a:lnTo>
                  <a:pt x="15074" y="4369854"/>
                </a:lnTo>
                <a:lnTo>
                  <a:pt x="31419" y="4380877"/>
                </a:lnTo>
                <a:lnTo>
                  <a:pt x="51435" y="4384929"/>
                </a:lnTo>
                <a:lnTo>
                  <a:pt x="6811708" y="4384929"/>
                </a:lnTo>
                <a:lnTo>
                  <a:pt x="6831711" y="4380877"/>
                </a:lnTo>
                <a:lnTo>
                  <a:pt x="6848068" y="4369854"/>
                </a:lnTo>
                <a:lnTo>
                  <a:pt x="6859092" y="4353509"/>
                </a:lnTo>
                <a:lnTo>
                  <a:pt x="6863143" y="4333494"/>
                </a:lnTo>
                <a:lnTo>
                  <a:pt x="6863143" y="51435"/>
                </a:lnTo>
                <a:close/>
              </a:path>
            </a:pathLst>
          </a:custGeom>
          <a:solidFill>
            <a:srgbClr val="3A1F5C"/>
          </a:solidFill>
        </p:spPr>
        <p:txBody>
          <a:bodyPr wrap="square" lIns="0" tIns="0" rIns="0" bIns="0" rtlCol="0"/>
          <a:lstStyle/>
          <a:p>
            <a:endParaRPr dirty="0"/>
          </a:p>
        </p:txBody>
      </p:sp>
      <p:sp>
        <p:nvSpPr>
          <p:cNvPr id="9" name="object 9">
            <a:extLst>
              <a:ext uri="{FF2B5EF4-FFF2-40B4-BE49-F238E27FC236}">
                <a16:creationId xmlns:a16="http://schemas.microsoft.com/office/drawing/2014/main" id="{99BE70D3-77BD-5557-710A-AE58ACAB2B67}"/>
              </a:ext>
            </a:extLst>
          </p:cNvPr>
          <p:cNvSpPr txBox="1">
            <a:spLocks noGrp="1"/>
          </p:cNvSpPr>
          <p:nvPr>
            <p:ph type="ftr" sz="quarter" idx="5"/>
          </p:nvPr>
        </p:nvSpPr>
        <p:spPr>
          <a:prstGeom prst="rect">
            <a:avLst/>
          </a:prstGeom>
        </p:spPr>
        <p:txBody>
          <a:bodyPr vert="horz" wrap="square" lIns="0" tIns="15240" rIns="0" bIns="0" rtlCol="0">
            <a:spAutoFit/>
          </a:bodyPr>
          <a:lstStyle/>
          <a:p>
            <a:pPr marL="12700">
              <a:lnSpc>
                <a:spcPct val="100000"/>
              </a:lnSpc>
              <a:spcBef>
                <a:spcPts val="120"/>
              </a:spcBef>
            </a:pPr>
            <a:r>
              <a:rPr dirty="0"/>
              <a:t>Department</a:t>
            </a:r>
            <a:r>
              <a:rPr spc="60" dirty="0"/>
              <a:t> </a:t>
            </a:r>
            <a:r>
              <a:rPr dirty="0"/>
              <a:t>of</a:t>
            </a:r>
            <a:r>
              <a:rPr spc="65" dirty="0"/>
              <a:t> </a:t>
            </a:r>
            <a:r>
              <a:rPr dirty="0"/>
              <a:t>AI</a:t>
            </a:r>
            <a:r>
              <a:rPr spc="60" dirty="0"/>
              <a:t> </a:t>
            </a:r>
            <a:r>
              <a:rPr dirty="0"/>
              <a:t>&amp;</a:t>
            </a:r>
            <a:r>
              <a:rPr spc="65" dirty="0"/>
              <a:t> </a:t>
            </a:r>
            <a:r>
              <a:rPr spc="-25" dirty="0"/>
              <a:t>ML</a:t>
            </a:r>
          </a:p>
        </p:txBody>
      </p:sp>
      <p:sp>
        <p:nvSpPr>
          <p:cNvPr id="7" name="TextBox 6">
            <a:extLst>
              <a:ext uri="{FF2B5EF4-FFF2-40B4-BE49-F238E27FC236}">
                <a16:creationId xmlns:a16="http://schemas.microsoft.com/office/drawing/2014/main" id="{F2A4E953-7763-1305-4841-6DEE3D136FD9}"/>
              </a:ext>
            </a:extLst>
          </p:cNvPr>
          <p:cNvSpPr txBox="1"/>
          <p:nvPr/>
        </p:nvSpPr>
        <p:spPr>
          <a:xfrm>
            <a:off x="4800600" y="1028700"/>
            <a:ext cx="9144000" cy="646331"/>
          </a:xfrm>
          <a:prstGeom prst="rect">
            <a:avLst/>
          </a:prstGeom>
          <a:noFill/>
        </p:spPr>
        <p:txBody>
          <a:bodyPr wrap="square">
            <a:spAutoFit/>
          </a:bodyPr>
          <a:lstStyle/>
          <a:p>
            <a:r>
              <a:rPr lang="en-IN" sz="3600" dirty="0"/>
              <a:t>TOOLS AND TECHNOLOGIES USED</a:t>
            </a:r>
          </a:p>
        </p:txBody>
      </p:sp>
      <p:pic>
        <p:nvPicPr>
          <p:cNvPr id="10" name="Picture 9" descr="The diagram illustrates a layered architecture for an educational web application, starting with user interfaces and ending with infrastructure and security, including various technologies and specialized agents for different functions.&#10;&#10;AI-generated content may be incorrect.">
            <a:extLst>
              <a:ext uri="{FF2B5EF4-FFF2-40B4-BE49-F238E27FC236}">
                <a16:creationId xmlns:a16="http://schemas.microsoft.com/office/drawing/2014/main" id="{9168E9EA-1060-957C-04A9-96F4ADCCE4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6033" y="2209265"/>
            <a:ext cx="14683167" cy="7659169"/>
          </a:xfrm>
          <a:prstGeom prst="rect">
            <a:avLst/>
          </a:prstGeom>
        </p:spPr>
      </p:pic>
    </p:spTree>
    <p:extLst>
      <p:ext uri="{BB962C8B-B14F-4D97-AF65-F5344CB8AC3E}">
        <p14:creationId xmlns:p14="http://schemas.microsoft.com/office/powerpoint/2010/main" val="3283710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C04-E6AF-254A-9EA6-351E644303B3}"/>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5E87B228-EC2B-5FAE-B539-FFAC5BD4D1E3}"/>
              </a:ext>
            </a:extLst>
          </p:cNvPr>
          <p:cNvSpPr txBox="1">
            <a:spLocks noGrp="1"/>
          </p:cNvSpPr>
          <p:nvPr>
            <p:ph type="title"/>
          </p:nvPr>
        </p:nvSpPr>
        <p:spPr>
          <a:xfrm>
            <a:off x="1623240" y="2324100"/>
            <a:ext cx="14454960" cy="2044149"/>
          </a:xfrm>
          <a:prstGeom prst="rect">
            <a:avLst/>
          </a:prstGeom>
        </p:spPr>
        <p:txBody>
          <a:bodyPr vert="horz" wrap="square" lIns="0" tIns="12700" rIns="0" bIns="0" rtlCol="0">
            <a:spAutoFit/>
          </a:bodyPr>
          <a:lstStyle/>
          <a:p>
            <a:pPr marL="1446530">
              <a:lnSpc>
                <a:spcPct val="100000"/>
              </a:lnSpc>
              <a:spcBef>
                <a:spcPts val="100"/>
              </a:spcBef>
            </a:pPr>
            <a:br>
              <a:rPr lang="en-IN" sz="4400" spc="-10" dirty="0"/>
            </a:br>
            <a:br>
              <a:rPr lang="en-IN" sz="4400" spc="-10" dirty="0"/>
            </a:br>
            <a:endParaRPr sz="4400" spc="-10" dirty="0"/>
          </a:p>
        </p:txBody>
      </p:sp>
      <p:sp>
        <p:nvSpPr>
          <p:cNvPr id="3" name="object 3">
            <a:extLst>
              <a:ext uri="{FF2B5EF4-FFF2-40B4-BE49-F238E27FC236}">
                <a16:creationId xmlns:a16="http://schemas.microsoft.com/office/drawing/2014/main" id="{86958397-9F26-F775-24CA-CB3FB2FCD5A0}"/>
              </a:ext>
            </a:extLst>
          </p:cNvPr>
          <p:cNvSpPr/>
          <p:nvPr/>
        </p:nvSpPr>
        <p:spPr>
          <a:xfrm>
            <a:off x="0" y="1790700"/>
            <a:ext cx="1371600" cy="8361389"/>
          </a:xfrm>
          <a:custGeom>
            <a:avLst/>
            <a:gdLst/>
            <a:ahLst/>
            <a:cxnLst/>
            <a:rect l="l" t="t" r="r" b="b"/>
            <a:pathLst>
              <a:path w="6863715" h="4385309">
                <a:moveTo>
                  <a:pt x="6863143" y="51435"/>
                </a:moveTo>
                <a:lnTo>
                  <a:pt x="6859092" y="31419"/>
                </a:lnTo>
                <a:lnTo>
                  <a:pt x="6848068" y="15074"/>
                </a:lnTo>
                <a:lnTo>
                  <a:pt x="6831711" y="4038"/>
                </a:lnTo>
                <a:lnTo>
                  <a:pt x="6811708" y="0"/>
                </a:lnTo>
                <a:lnTo>
                  <a:pt x="51435" y="0"/>
                </a:lnTo>
                <a:lnTo>
                  <a:pt x="31419" y="4038"/>
                </a:lnTo>
                <a:lnTo>
                  <a:pt x="15074" y="15074"/>
                </a:lnTo>
                <a:lnTo>
                  <a:pt x="4038" y="31419"/>
                </a:lnTo>
                <a:lnTo>
                  <a:pt x="0" y="51435"/>
                </a:lnTo>
                <a:lnTo>
                  <a:pt x="0" y="4333494"/>
                </a:lnTo>
                <a:lnTo>
                  <a:pt x="4038" y="4353509"/>
                </a:lnTo>
                <a:lnTo>
                  <a:pt x="15074" y="4369854"/>
                </a:lnTo>
                <a:lnTo>
                  <a:pt x="31419" y="4380877"/>
                </a:lnTo>
                <a:lnTo>
                  <a:pt x="51435" y="4384929"/>
                </a:lnTo>
                <a:lnTo>
                  <a:pt x="6811708" y="4384929"/>
                </a:lnTo>
                <a:lnTo>
                  <a:pt x="6831711" y="4380877"/>
                </a:lnTo>
                <a:lnTo>
                  <a:pt x="6848068" y="4369854"/>
                </a:lnTo>
                <a:lnTo>
                  <a:pt x="6859092" y="4353509"/>
                </a:lnTo>
                <a:lnTo>
                  <a:pt x="6863143" y="4333494"/>
                </a:lnTo>
                <a:lnTo>
                  <a:pt x="6863143" y="51435"/>
                </a:lnTo>
                <a:close/>
              </a:path>
            </a:pathLst>
          </a:custGeom>
          <a:solidFill>
            <a:srgbClr val="3A1F5C"/>
          </a:solidFill>
        </p:spPr>
        <p:txBody>
          <a:bodyPr wrap="square" lIns="0" tIns="0" rIns="0" bIns="0" rtlCol="0"/>
          <a:lstStyle/>
          <a:p>
            <a:endParaRPr dirty="0"/>
          </a:p>
        </p:txBody>
      </p:sp>
      <p:sp>
        <p:nvSpPr>
          <p:cNvPr id="9" name="object 9">
            <a:extLst>
              <a:ext uri="{FF2B5EF4-FFF2-40B4-BE49-F238E27FC236}">
                <a16:creationId xmlns:a16="http://schemas.microsoft.com/office/drawing/2014/main" id="{6A2B1817-8DA1-39D2-F93B-9BB759F555FD}"/>
              </a:ext>
            </a:extLst>
          </p:cNvPr>
          <p:cNvSpPr txBox="1">
            <a:spLocks noGrp="1"/>
          </p:cNvSpPr>
          <p:nvPr>
            <p:ph type="ftr" sz="quarter" idx="5"/>
          </p:nvPr>
        </p:nvSpPr>
        <p:spPr>
          <a:prstGeom prst="rect">
            <a:avLst/>
          </a:prstGeom>
        </p:spPr>
        <p:txBody>
          <a:bodyPr vert="horz" wrap="square" lIns="0" tIns="15240" rIns="0" bIns="0" rtlCol="0">
            <a:spAutoFit/>
          </a:bodyPr>
          <a:lstStyle/>
          <a:p>
            <a:pPr marL="12700">
              <a:lnSpc>
                <a:spcPct val="100000"/>
              </a:lnSpc>
              <a:spcBef>
                <a:spcPts val="120"/>
              </a:spcBef>
            </a:pPr>
            <a:r>
              <a:rPr dirty="0"/>
              <a:t>Department</a:t>
            </a:r>
            <a:r>
              <a:rPr spc="60" dirty="0"/>
              <a:t> </a:t>
            </a:r>
            <a:r>
              <a:rPr dirty="0"/>
              <a:t>of</a:t>
            </a:r>
            <a:r>
              <a:rPr spc="65" dirty="0"/>
              <a:t> </a:t>
            </a:r>
            <a:r>
              <a:rPr dirty="0"/>
              <a:t>AI</a:t>
            </a:r>
            <a:r>
              <a:rPr spc="60" dirty="0"/>
              <a:t> </a:t>
            </a:r>
            <a:r>
              <a:rPr dirty="0"/>
              <a:t>&amp;</a:t>
            </a:r>
            <a:r>
              <a:rPr spc="65" dirty="0"/>
              <a:t> </a:t>
            </a:r>
            <a:r>
              <a:rPr spc="-25" dirty="0"/>
              <a:t>ML</a:t>
            </a:r>
          </a:p>
        </p:txBody>
      </p:sp>
      <p:pic>
        <p:nvPicPr>
          <p:cNvPr id="7" name="Picture 6" descr="The image depicts a dynamic educational dashboard with various metrics and tools, such as performance indicators, adaptive recommendations, and personalized study plans, designed to enhance learning experiences by continuously assessing and updating a student's progress and mastery in specific subjects.&#10;&#10;AI-generated content may be incorrect.">
            <a:extLst>
              <a:ext uri="{FF2B5EF4-FFF2-40B4-BE49-F238E27FC236}">
                <a16:creationId xmlns:a16="http://schemas.microsoft.com/office/drawing/2014/main" id="{6FB1374D-BFDC-FB68-D984-4FDB8F9772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1120" y="1989388"/>
            <a:ext cx="15928023" cy="7964011"/>
          </a:xfrm>
          <a:prstGeom prst="rect">
            <a:avLst/>
          </a:prstGeom>
        </p:spPr>
      </p:pic>
      <p:sp>
        <p:nvSpPr>
          <p:cNvPr id="10" name="TextBox 9">
            <a:extLst>
              <a:ext uri="{FF2B5EF4-FFF2-40B4-BE49-F238E27FC236}">
                <a16:creationId xmlns:a16="http://schemas.microsoft.com/office/drawing/2014/main" id="{2B8E16B2-8223-73E8-9B78-B2FB9D458BC5}"/>
              </a:ext>
            </a:extLst>
          </p:cNvPr>
          <p:cNvSpPr txBox="1"/>
          <p:nvPr/>
        </p:nvSpPr>
        <p:spPr>
          <a:xfrm>
            <a:off x="5334000" y="876300"/>
            <a:ext cx="9144000" cy="923330"/>
          </a:xfrm>
          <a:prstGeom prst="rect">
            <a:avLst/>
          </a:prstGeom>
          <a:noFill/>
        </p:spPr>
        <p:txBody>
          <a:bodyPr wrap="square">
            <a:spAutoFit/>
          </a:bodyPr>
          <a:lstStyle/>
          <a:p>
            <a:pPr>
              <a:buNone/>
            </a:pPr>
            <a:r>
              <a:rPr lang="en-IN" sz="4800" dirty="0">
                <a:solidFill>
                  <a:schemeClr val="tx1"/>
                </a:solidFill>
              </a:rPr>
              <a:t>Performance</a:t>
            </a:r>
            <a:r>
              <a:rPr lang="en-IN" sz="4800" dirty="0"/>
              <a:t> &amp; </a:t>
            </a:r>
            <a:r>
              <a:rPr lang="en-IN" sz="5400" dirty="0"/>
              <a:t>Metrics</a:t>
            </a:r>
            <a:endParaRPr lang="en-IN" sz="4800" dirty="0"/>
          </a:p>
        </p:txBody>
      </p:sp>
    </p:spTree>
    <p:extLst>
      <p:ext uri="{BB962C8B-B14F-4D97-AF65-F5344CB8AC3E}">
        <p14:creationId xmlns:p14="http://schemas.microsoft.com/office/powerpoint/2010/main" val="987164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4CEDA-21EA-51B2-F604-1FE3B571775A}"/>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2C98219E-1556-FF26-DAAF-206D6FC91920}"/>
              </a:ext>
            </a:extLst>
          </p:cNvPr>
          <p:cNvSpPr>
            <a:spLocks noGrp="1"/>
          </p:cNvSpPr>
          <p:nvPr>
            <p:ph type="body" idx="1"/>
          </p:nvPr>
        </p:nvSpPr>
        <p:spPr>
          <a:xfrm>
            <a:off x="914400" y="2366010"/>
            <a:ext cx="16459200" cy="4431983"/>
          </a:xfrm>
        </p:spPr>
        <p:txBody>
          <a:bodyPr/>
          <a:lstStyle/>
          <a:p>
            <a:r>
              <a:rPr lang="en-IN" sz="2800" b="1" dirty="0"/>
              <a:t>FUTURE WORK</a:t>
            </a:r>
          </a:p>
          <a:p>
            <a:pPr lvl="0"/>
            <a:endParaRPr lang="en-IN" dirty="0"/>
          </a:p>
          <a:p>
            <a:pPr marL="457200" lvl="0" indent="-457200">
              <a:buFont typeface="Arial" panose="020B0604020202020204" pitchFamily="34" charset="0"/>
              <a:buChar char="•"/>
            </a:pPr>
            <a:r>
              <a:rPr lang="en-IN" sz="2800" dirty="0"/>
              <a:t>Integrate more advanced </a:t>
            </a:r>
            <a:r>
              <a:rPr lang="en-IN" sz="2800" b="1" dirty="0"/>
              <a:t>LLM models</a:t>
            </a:r>
            <a:r>
              <a:rPr lang="en-IN" sz="2800" dirty="0"/>
              <a:t> for better explanations and reasoning.</a:t>
            </a:r>
          </a:p>
          <a:p>
            <a:pPr marL="457200" lvl="0" indent="-457200">
              <a:buFont typeface="Arial" panose="020B0604020202020204" pitchFamily="34" charset="0"/>
              <a:buChar char="•"/>
            </a:pPr>
            <a:r>
              <a:rPr lang="en-IN" sz="2800" dirty="0"/>
              <a:t>Add </a:t>
            </a:r>
            <a:r>
              <a:rPr lang="en-IN" sz="2800" b="1" dirty="0"/>
              <a:t>voice-based learning</a:t>
            </a:r>
            <a:r>
              <a:rPr lang="en-IN" sz="2800" dirty="0"/>
              <a:t> and multilingual support.</a:t>
            </a:r>
          </a:p>
          <a:p>
            <a:pPr marL="457200" lvl="0" indent="-457200">
              <a:buFont typeface="Arial" panose="020B0604020202020204" pitchFamily="34" charset="0"/>
              <a:buChar char="•"/>
            </a:pPr>
            <a:r>
              <a:rPr lang="en-IN" sz="2800" dirty="0"/>
              <a:t>Improve personalized recommendations using larger student learning histories.</a:t>
            </a:r>
          </a:p>
          <a:p>
            <a:pPr marL="457200" lvl="0" indent="-457200">
              <a:buFont typeface="Arial" panose="020B0604020202020204" pitchFamily="34" charset="0"/>
              <a:buChar char="•"/>
            </a:pPr>
            <a:r>
              <a:rPr lang="en-IN" sz="2800" dirty="0"/>
              <a:t>Add advanced </a:t>
            </a:r>
            <a:r>
              <a:rPr lang="en-IN" sz="2800" b="1" dirty="0"/>
              <a:t>RAG-based knowledge retrieval</a:t>
            </a:r>
            <a:r>
              <a:rPr lang="en-IN" sz="2800" dirty="0"/>
              <a:t> for learning content.</a:t>
            </a:r>
          </a:p>
          <a:p>
            <a:pPr marL="457200" lvl="0" indent="-457200">
              <a:buFont typeface="Arial" panose="020B0604020202020204" pitchFamily="34" charset="0"/>
              <a:buChar char="•"/>
            </a:pPr>
            <a:r>
              <a:rPr lang="en-IN" sz="2800" dirty="0"/>
              <a:t>Develop mobile application support.</a:t>
            </a:r>
          </a:p>
          <a:p>
            <a:pPr marL="457200" lvl="0" indent="-457200">
              <a:buFont typeface="Arial" panose="020B0604020202020204" pitchFamily="34" charset="0"/>
              <a:buChar char="•"/>
            </a:pPr>
            <a:r>
              <a:rPr lang="en-IN" sz="2800" dirty="0"/>
              <a:t>Provide advanced analytics and dashboards for teachers.</a:t>
            </a:r>
          </a:p>
          <a:p>
            <a:pPr marL="457200" lvl="0" indent="-457200">
              <a:buFont typeface="Arial" panose="020B0604020202020204" pitchFamily="34" charset="0"/>
              <a:buChar char="•"/>
            </a:pPr>
            <a:r>
              <a:rPr lang="en-IN" sz="2800" dirty="0"/>
              <a:t>Improve scalability for larger numbers of students and courses.</a:t>
            </a:r>
          </a:p>
          <a:p>
            <a:pPr lvl="0"/>
            <a:endParaRPr lang="en-IN" sz="2800" dirty="0"/>
          </a:p>
          <a:p>
            <a:endParaRPr lang="en-IN" dirty="0"/>
          </a:p>
        </p:txBody>
      </p:sp>
      <p:sp>
        <p:nvSpPr>
          <p:cNvPr id="5" name="TextBox 4">
            <a:extLst>
              <a:ext uri="{FF2B5EF4-FFF2-40B4-BE49-F238E27FC236}">
                <a16:creationId xmlns:a16="http://schemas.microsoft.com/office/drawing/2014/main" id="{D2C4AD29-1F9E-A548-B5FC-6932C63EEC03}"/>
              </a:ext>
            </a:extLst>
          </p:cNvPr>
          <p:cNvSpPr txBox="1"/>
          <p:nvPr/>
        </p:nvSpPr>
        <p:spPr>
          <a:xfrm>
            <a:off x="914400" y="6443662"/>
            <a:ext cx="16078200" cy="2677656"/>
          </a:xfrm>
          <a:prstGeom prst="rect">
            <a:avLst/>
          </a:prstGeom>
          <a:noFill/>
        </p:spPr>
        <p:txBody>
          <a:bodyPr wrap="square">
            <a:spAutoFit/>
          </a:bodyPr>
          <a:lstStyle/>
          <a:p>
            <a:r>
              <a:rPr lang="en-IN" sz="2400" b="1" dirty="0"/>
              <a:t>CONCLUSION</a:t>
            </a:r>
          </a:p>
          <a:p>
            <a:endParaRPr lang="en-IN" sz="2400" b="1" dirty="0"/>
          </a:p>
          <a:p>
            <a:pPr marL="342900" lvl="0" indent="-342900">
              <a:buFont typeface="Arial" panose="020B0604020202020204" pitchFamily="34" charset="0"/>
              <a:buChar char="•"/>
            </a:pPr>
            <a:r>
              <a:rPr lang="en-IN" sz="2400" dirty="0" err="1"/>
              <a:t>AcademicPilot</a:t>
            </a:r>
            <a:r>
              <a:rPr lang="en-IN" sz="2400" dirty="0"/>
              <a:t> AI provides personalized and adaptive learning using a multi-agent architecture.</a:t>
            </a:r>
          </a:p>
          <a:p>
            <a:pPr marL="342900" lvl="0" indent="-342900">
              <a:buFont typeface="Arial" panose="020B0604020202020204" pitchFamily="34" charset="0"/>
              <a:buChar char="•"/>
            </a:pPr>
            <a:r>
              <a:rPr lang="en-IN" sz="2400" dirty="0" err="1"/>
              <a:t>LangGraph</a:t>
            </a:r>
            <a:r>
              <a:rPr lang="en-IN" sz="2400" dirty="0"/>
              <a:t> coordinates the Academic Brain and specialized agents.</a:t>
            </a:r>
          </a:p>
          <a:p>
            <a:pPr marL="342900" lvl="0" indent="-342900">
              <a:buFont typeface="Arial" panose="020B0604020202020204" pitchFamily="34" charset="0"/>
              <a:buChar char="•"/>
            </a:pPr>
            <a:r>
              <a:rPr lang="en-IN" sz="2400" dirty="0"/>
              <a:t>The system identifies weak topics, provides resources, creates study plans, supports learning, and evaluates progress.</a:t>
            </a:r>
          </a:p>
          <a:p>
            <a:pPr marL="342900" lvl="0" indent="-342900">
              <a:buFont typeface="Arial" panose="020B0604020202020204" pitchFamily="34" charset="0"/>
              <a:buChar char="•"/>
            </a:pPr>
            <a:r>
              <a:rPr lang="en-IN" sz="2400" dirty="0"/>
              <a:t>Teachers can manage subjects, topics, and original PDF learning resources.</a:t>
            </a:r>
          </a:p>
        </p:txBody>
      </p:sp>
    </p:spTree>
    <p:extLst>
      <p:ext uri="{BB962C8B-B14F-4D97-AF65-F5344CB8AC3E}">
        <p14:creationId xmlns:p14="http://schemas.microsoft.com/office/powerpoint/2010/main" val="3685999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131</TotalTime>
  <Words>730</Words>
  <Application>Microsoft Office PowerPoint</Application>
  <PresentationFormat>Custom</PresentationFormat>
  <Paragraphs>85</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-apple-system-body</vt:lpstr>
      <vt:lpstr>Aptos</vt:lpstr>
      <vt:lpstr>Arial</vt:lpstr>
      <vt:lpstr>Calibri</vt:lpstr>
      <vt:lpstr>Times New Roman</vt:lpstr>
      <vt:lpstr>Office Theme</vt:lpstr>
      <vt:lpstr>  AcademicPilot AI | </vt:lpstr>
      <vt:lpstr>INTRODUCTION  AcademicPilot AI is a web based Agentic AI-powered personalized learning platform designed to provide students with adaptive academic guidance  Instead of performing like a Single  Chat Box like generating Questions and responding Where each agents  perform Specialized Task   AcademicPilot AI analyzes student performance, mastery, assessment results, and weak topics to recommend suitable learning activities. A central Academic Brain coordinates specialized agents such as the Detective, Resource, Strategist, Mentor, Examiner, and Progress Monitor Agents.  Teachers can create subjects and topics and upload original PDF learning resources, which students can access through the Resource Agent. Students can learn, practice, take assessments, and track their progress. The system follows a continuous learning cycle:  Observe → Analyze → Plan → Learn → Practice → Evaluate → Update → Re-plan Thus, AcademicPilot AI provides a personalized learning experience while helping teachers manage resources and monitor student progress.   </vt:lpstr>
      <vt:lpstr>PowerPoint Presentation</vt:lpstr>
      <vt:lpstr>  </vt:lpstr>
      <vt:lpstr>PowerPoint Presentation</vt:lpstr>
      <vt:lpstr>  </vt:lpstr>
      <vt:lpstr>  </vt:lpstr>
      <vt:lpstr>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SentinelAI-Detailed-Agentic-AI-Presentation.pptx</dc:title>
  <dc:creator>Aniruth SV</dc:creator>
  <cp:keywords>DAHW9N3-Lr0,BAEPpMw4vJo</cp:keywords>
  <cp:lastModifiedBy>Anbarasan TG</cp:lastModifiedBy>
  <cp:revision>1</cp:revision>
  <dcterms:created xsi:type="dcterms:W3CDTF">2026-10-05T20:38:30Z</dcterms:created>
  <dcterms:modified xsi:type="dcterms:W3CDTF">2026-10-05T22:51:33Z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2026-10-05T00:00:00Z</vt:filetime>
  </property>
  <property fmtid="{D5CDD505-2E9C-101B-9397-08002B2CF9AE}" pid="3" name="Creator">
    <vt:lpwstr>Canva</vt:lpwstr>
  </property>
  <property fmtid="{D5CDD505-2E9C-101B-9397-08002B2CF9AE}" pid="4" name="LastSaved">
    <vt:filetime>2026-10-05T00:00:00Z</vt:filetime>
  </property>
  <property fmtid="{D5CDD505-2E9C-101B-9397-08002B2CF9AE}" pid="5" name="Producer">
    <vt:lpwstr>Canva</vt:lpwstr>
  </property>
</Properties>
</file>